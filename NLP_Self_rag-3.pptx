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Roboto Mono"/>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obotoMono-bold.fntdata"/><Relationship Id="rId27" Type="http://schemas.openxmlformats.org/officeDocument/2006/relationships/font" Target="fonts/RobotoMon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Mono-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RobotoMon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ab85e44e37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ab85e44e37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t>“Modern large language models are powerful, but they still make factual mistakes because they rely only on what they learned during training. Traditional RAG tries to fix this by retrieving documents, but it often retrieves irrelevant or unnecessary information. SELF-RAG solves this by letting the model decide when to retrieve information and by using special reflection tokens to check whether the retrieved passages are relevant and whether the model’s own answer is correct. This helps SELF-RAG achieve higher factual accuracy than other models like ChatGPT, Llama2-chat, and Alpaca.”</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ab85e44e37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ab85e44e37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figure shows the difference between traditional RAG and SELF-RAG. Traditional RAG always retrieves a fixed number of documents and forces the model to use them—even if they’re irrelevant. SELF-RAG is more intelligent. It retrieves only when needed, evaluates each document for relevance and support, generates multiple answer options, and critiques them to choose the best one. This leads to much more accurate and reliable responses.”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ab85e44e37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ab85e44e3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“RAG enhances language models by supplying retrieved documents as extra context. This helps with knowledge-intensive tasks, but it has limitations—such as retrieving irrelevant passages, not updating retrieval during generation, and producing answers without clear attribution. These problems reduce both accuracy and trust.”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aba7a6f6d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aba7a6f6d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“Existing RAG systems retrieve information only once at the beginning, often when retrieval is not needed. They sometimes mix irrelevant documents with relevant ones, lowering answer quality. They also struggle to show which part of the answer came from which source. And adaptive RAG methods require heavy computation or proprietary models.”</a:t>
            </a:r>
            <a:endParaRPr/>
          </a:p>
          <a:p>
            <a:pPr indent="0" lvl="0" marL="0" rtl="0" algn="l">
              <a:spcBef>
                <a:spcPts val="1200"/>
              </a:spcBef>
              <a:spcAft>
                <a:spcPts val="0"/>
              </a:spcAft>
              <a:buNone/>
            </a:pPr>
            <a:r>
              <a:rPr lang="en"/>
              <a:t>-&gt; “SELF-RAG trains any language model to retrieve only when necessary. It uses reflection tokens to decide when to retrieve, to evaluate the relevance of retrieved passages, and to judge if the answer is fully supported. This results in more factual, controlled, and evidence-aligned responses.”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-&gt;“Instead of using expensive RLHF, SELF-RAG uses a critic model trained offline to create reflection tokens. These tokens label relevance, support, usefulness, and retrieval need. The model then learns self-evaluation by training on these tokens, making the overall process cheaper and more effective.”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ad406c0206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ad406c020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“Reflection tokens tell the model four things: whether retrieval is needed, whether a passage is relevant, whether the answer is supported by evidence, and how useful the overall answer is. These fine-grained labels help SELF-RAG judge the quality of each segment during generation.”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ad406c0206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ad406c0206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-&gt; “During inference, SELF-RAG decides whether retrieval is needed using a retrieval token. If retrieval is not needed, it continues generating. If it is, SELF-RAG checks each passage for relevance and support, generates multiple answers, and selects the best one. For example, in Figure 1, passage d1 is chosen because it is fully supported while d2 is irrelevant and d3 is only partially supported.”</a:t>
            </a:r>
            <a:endParaRPr/>
          </a:p>
          <a:p>
            <a:pPr indent="0" lvl="0" marL="0" rtl="0" algn="l">
              <a:spcBef>
                <a:spcPts val="0"/>
              </a:spcBef>
              <a:spcAft>
                <a:spcPts val="0"/>
              </a:spcAft>
              <a:buNone/>
            </a:pPr>
            <a:r>
              <a:rPr lang="en"/>
              <a:t>-&gt; “SELF-RAG expands the model’s vocabulary by adding reflection tokens. The critic first labels each example with these tokens, and then the generator model is trained to produce both the main answer and the reflection tokens. After training, the generator no longer needs the critic—it can critique itself.”</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ad406c0206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ad406c0206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“Manually labeling reflection tokens is expensive, so GPT-4 is used to create high-quality labels. These labels are then used to train the critic model. The critic achieves over 90% agreement with GPT-4, showing strong reliability.”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ad406c0206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ad406c0206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ad406c0206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ad406c0206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“For each dataset example, the critic decides when retrieval is needed and labels each passage for relevance, support, and usefulness. These reflection tokens are added to the data. The generator then learns to predict both the answer and the tokens. This teaches it to critique itself during inference.”</a:t>
            </a:r>
            <a:endParaRPr/>
          </a:p>
          <a:p>
            <a:pPr indent="0" lvl="0" marL="0" rtl="0" algn="l">
              <a:spcBef>
                <a:spcPts val="120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ad406c0206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ad406c0206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“SELF-RAG allows dynamic control at inference. You can adjust how strictly the model checks evidence or how often it retrieves. The model evaluates continuation segments using a weighted combination of reflection token scores. This lets users choose between higher factual precision or more fluency.”</a:t>
            </a:r>
            <a:endParaRPr/>
          </a:p>
          <a:p>
            <a:pPr indent="0" lvl="0" marL="0" rtl="0" algn="l">
              <a:spcBef>
                <a:spcPts val="120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ad406c0206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ad406c0206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evaluate SELF-RAG across six tasks, including fact-checking, multiple-choice reasoning, open-domain QA, biography generation, and long-form QA. We use metrics like accuracy, FactScore, MAUVE, and citation precision to measure quality.”</a:t>
            </a:r>
            <a:endParaRPr/>
          </a:p>
          <a:p>
            <a:pPr indent="0" lvl="0" marL="0" rtl="0" algn="l">
              <a:spcBef>
                <a:spcPts val="0"/>
              </a:spcBef>
              <a:spcAft>
                <a:spcPts val="0"/>
              </a:spcAft>
              <a:buNone/>
            </a:pPr>
            <a:r>
              <a:rPr lang="en"/>
              <a:t>-&gt; “We compare SELF-RAG to strong baselines both with and without retrieval—such as Llama2, Alpaca, ChatGPT, Llama2-chat, RAG setups, Llama2-FT, SAIL, and Toolformer. This gives a fair and comprehensive evaluation.”</a:t>
            </a:r>
            <a:endParaRPr/>
          </a:p>
          <a:p>
            <a:pPr indent="0" lvl="0" marL="0" rtl="0" algn="l">
              <a:spcBef>
                <a:spcPts val="0"/>
              </a:spcBef>
              <a:spcAft>
                <a:spcPts val="0"/>
              </a:spcAft>
              <a:buNone/>
            </a:pPr>
            <a:r>
              <a:rPr lang="en"/>
              <a:t>-&gt; “The model is trained on 150k diverse instruction-following examples. We use Llama-2 as both the generator and critic base model. During inference, we adjust reflection token weights and set retrieval thresholds to match different task needs.”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ad406c0206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ad406c0206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“SELF-RAG consistently outperforms models without retrieval and even beats ChatGPT on several tasks like PubHealth, PopQA, biography generation, and ASQA. It also outperforms sophisticated prompting methods like CoVE.”</a:t>
            </a:r>
            <a:endParaRPr/>
          </a:p>
          <a:p>
            <a:pPr indent="0" lvl="0" marL="0" rtl="0" algn="l">
              <a:spcBef>
                <a:spcPts val="0"/>
              </a:spcBef>
              <a:spcAft>
                <a:spcPts val="0"/>
              </a:spcAft>
              <a:buNone/>
            </a:pPr>
            <a:r>
              <a:rPr lang="en"/>
              <a:t>“Even compared to RAG-based baselines, SELF-RAG delivers the best performance among open-source models. It significantly improves citation accuracy and in some cases even surpasses ChatGPT in citation precision.”</a:t>
            </a:r>
            <a:endParaRPr/>
          </a:p>
          <a:p>
            <a:pPr indent="0" lvl="0" marL="0" rtl="0" algn="l">
              <a:spcBef>
                <a:spcPts val="0"/>
              </a:spcBef>
              <a:spcAft>
                <a:spcPts val="0"/>
              </a:spcAft>
              <a:buNone/>
            </a:pPr>
            <a:r>
              <a:rPr lang="en"/>
              <a:t>“Ablation studies show that every component of SELF-RAG is important. Removing retrieval, removing the critic, or ignoring ISSUP hurts performance. The system also allows customization at inference—giving users control over factuality versus fluency.”</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ad406c0206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ad406c0206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ad406c0206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ad406c0206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ad406c0206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ad406c0206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ad406c0206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ad406c0206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“Human evaluators confirm that SELF-RAG’s answers are both plausible and well-supported. They also confirm high agreement with reflection token predictions, proving that SELF-RAG reliably identifies correct evidence.”</a:t>
            </a:r>
            <a:endParaRPr/>
          </a:p>
          <a:p>
            <a:pPr indent="0" lvl="0" marL="0" rtl="0" algn="l">
              <a:spcBef>
                <a:spcPts val="0"/>
              </a:spcBef>
              <a:spcAft>
                <a:spcPts val="0"/>
              </a:spcAft>
              <a:buNone/>
            </a:pPr>
            <a:r>
              <a:rPr lang="en"/>
              <a:t>“In summary, SELF-RAG is a powerful framework that makes language models more accurate, more factual, and more controllable. By retrieving only when needed and critiquing its own outputs, it achieves better performance than larger models and conventional RAG systems.”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ad406c0206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ad406c0206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ad406c0206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ad406c0206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ad406c0206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ad406c0206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ad406c0206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ad406c0206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github.com/princeton-nlp/ALCE"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0.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458100"/>
            <a:ext cx="8520600" cy="3255300"/>
          </a:xfrm>
          <a:prstGeom prst="rect">
            <a:avLst/>
          </a:prstGeom>
        </p:spPr>
        <p:txBody>
          <a:bodyPr anchorCtr="0" anchor="b" bIns="91425" lIns="91425" spcFirstLastPara="1" rIns="91425" wrap="square" tIns="91425">
            <a:noAutofit/>
          </a:bodyPr>
          <a:lstStyle/>
          <a:p>
            <a:pPr indent="0" lvl="0" marL="0" rtl="0" algn="just">
              <a:lnSpc>
                <a:spcPct val="115000"/>
              </a:lnSpc>
              <a:spcBef>
                <a:spcPts val="0"/>
              </a:spcBef>
              <a:spcAft>
                <a:spcPts val="0"/>
              </a:spcAft>
              <a:buClr>
                <a:schemeClr val="dk1"/>
              </a:buClr>
              <a:buSzPts val="990"/>
              <a:buFont typeface="Arial"/>
              <a:buNone/>
            </a:pPr>
            <a:r>
              <a:rPr b="1" lang="en" sz="3380"/>
              <a:t>SELF-RAG:LEARNING TO RETRIEVE, GENERATE, AND CRITIQUE THROUGH SELF-REFLECTION</a:t>
            </a:r>
            <a:endParaRPr b="1" sz="3380"/>
          </a:p>
          <a:p>
            <a:pPr indent="0" lvl="0" marL="0" rtl="0" algn="just">
              <a:spcBef>
                <a:spcPts val="0"/>
              </a:spcBef>
              <a:spcAft>
                <a:spcPts val="0"/>
              </a:spcAft>
              <a:buSzPts val="990"/>
              <a:buNone/>
            </a:pPr>
            <a:r>
              <a:t/>
            </a:r>
            <a:endParaRPr b="1" sz="3380"/>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l">
              <a:lnSpc>
                <a:spcPct val="80000"/>
              </a:lnSpc>
              <a:spcBef>
                <a:spcPts val="0"/>
              </a:spcBef>
              <a:spcAft>
                <a:spcPts val="0"/>
              </a:spcAft>
              <a:buSzPts val="935"/>
              <a:buNone/>
            </a:pPr>
            <a:r>
              <a:rPr b="1" lang="en" sz="2080"/>
              <a:t>Name : Ankita Patra</a:t>
            </a:r>
            <a:endParaRPr b="1" sz="2080"/>
          </a:p>
          <a:p>
            <a:pPr indent="0" lvl="0" marL="0" rtl="0" algn="l">
              <a:lnSpc>
                <a:spcPct val="80000"/>
              </a:lnSpc>
              <a:spcBef>
                <a:spcPts val="0"/>
              </a:spcBef>
              <a:spcAft>
                <a:spcPts val="0"/>
              </a:spcAft>
              <a:buSzPts val="935"/>
              <a:buNone/>
            </a:pPr>
            <a:r>
              <a:rPr b="1" lang="en" sz="2080"/>
              <a:t>B-number : B01101280</a:t>
            </a:r>
            <a:endParaRPr b="1" sz="208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209100" y="391700"/>
            <a:ext cx="8520600" cy="78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520"/>
              <a:t>Introduction</a:t>
            </a:r>
            <a:r>
              <a:rPr lang="en" sz="2520"/>
              <a:t> </a:t>
            </a:r>
            <a:endParaRPr sz="2520"/>
          </a:p>
        </p:txBody>
      </p:sp>
      <p:sp>
        <p:nvSpPr>
          <p:cNvPr id="61" name="Google Shape;61;p14"/>
          <p:cNvSpPr txBox="1"/>
          <p:nvPr>
            <p:ph type="title"/>
          </p:nvPr>
        </p:nvSpPr>
        <p:spPr>
          <a:xfrm>
            <a:off x="423025" y="1289650"/>
            <a:ext cx="8520600" cy="2946600"/>
          </a:xfrm>
          <a:prstGeom prst="rect">
            <a:avLst/>
          </a:prstGeom>
        </p:spPr>
        <p:txBody>
          <a:bodyPr anchorCtr="0" anchor="t" bIns="91425" lIns="91425" spcFirstLastPara="1" rIns="91425" wrap="square" tIns="91425">
            <a:noAutofit/>
          </a:bodyPr>
          <a:lstStyle/>
          <a:p>
            <a:pPr indent="-323850" lvl="0" marL="457200" rtl="0" algn="l">
              <a:lnSpc>
                <a:spcPct val="115000"/>
              </a:lnSpc>
              <a:spcBef>
                <a:spcPts val="1200"/>
              </a:spcBef>
              <a:spcAft>
                <a:spcPts val="0"/>
              </a:spcAft>
              <a:buSzPts val="1500"/>
              <a:buChar char="●"/>
            </a:pPr>
            <a:r>
              <a:rPr lang="en" sz="1500"/>
              <a:t>Modern LLMs still make factual mistakes even with large training data.</a:t>
            </a:r>
            <a:endParaRPr sz="1500"/>
          </a:p>
          <a:p>
            <a:pPr indent="-323850" lvl="0" marL="457200" rtl="0" algn="l">
              <a:lnSpc>
                <a:spcPct val="115000"/>
              </a:lnSpc>
              <a:spcBef>
                <a:spcPts val="0"/>
              </a:spcBef>
              <a:spcAft>
                <a:spcPts val="0"/>
              </a:spcAft>
              <a:buSzPts val="1500"/>
              <a:buChar char="●"/>
            </a:pPr>
            <a:r>
              <a:rPr lang="en" sz="1500"/>
              <a:t>Traditional RAG is not always reliable because it often retrieves irrelevant or unhelpful documents.</a:t>
            </a:r>
            <a:endParaRPr sz="1500"/>
          </a:p>
          <a:p>
            <a:pPr indent="-323850" lvl="0" marL="457200" rtl="0" algn="l">
              <a:lnSpc>
                <a:spcPct val="115000"/>
              </a:lnSpc>
              <a:spcBef>
                <a:spcPts val="0"/>
              </a:spcBef>
              <a:spcAft>
                <a:spcPts val="0"/>
              </a:spcAft>
              <a:buSzPts val="1500"/>
              <a:buChar char="●"/>
            </a:pPr>
            <a:r>
              <a:rPr lang="en" sz="1500"/>
              <a:t>SELF-RAG improves this by deciding when to retrieve information instead of always retrieving.</a:t>
            </a:r>
            <a:endParaRPr sz="1500"/>
          </a:p>
          <a:p>
            <a:pPr indent="-323850" lvl="0" marL="457200" rtl="0" algn="l">
              <a:lnSpc>
                <a:spcPct val="115000"/>
              </a:lnSpc>
              <a:spcBef>
                <a:spcPts val="0"/>
              </a:spcBef>
              <a:spcAft>
                <a:spcPts val="0"/>
              </a:spcAft>
              <a:buSzPts val="1500"/>
              <a:buChar char="●"/>
            </a:pPr>
            <a:r>
              <a:rPr lang="en" sz="1500"/>
              <a:t>It uses </a:t>
            </a:r>
            <a:r>
              <a:rPr b="1" lang="en" sz="1400"/>
              <a:t>reflection tokens</a:t>
            </a:r>
            <a:r>
              <a:rPr lang="en" sz="1500"/>
              <a:t> to check relevance, support, and the correctness of its own answers.</a:t>
            </a:r>
            <a:endParaRPr sz="1500"/>
          </a:p>
          <a:p>
            <a:pPr indent="-323850" lvl="0" marL="457200" rtl="0" algn="l">
              <a:lnSpc>
                <a:spcPct val="115000"/>
              </a:lnSpc>
              <a:spcBef>
                <a:spcPts val="0"/>
              </a:spcBef>
              <a:spcAft>
                <a:spcPts val="0"/>
              </a:spcAft>
              <a:buSzPts val="1500"/>
              <a:buChar char="●"/>
            </a:pPr>
            <a:r>
              <a:rPr lang="en" sz="1500"/>
              <a:t>By retrieving only when needed and choosing the best-supported answer, SELF-RAG achieves higher accuracy than ChatGPT, Llama2-chat, and Alpaca on reasoning, fact-checking, and long-form tasks.</a:t>
            </a:r>
            <a:r>
              <a:rPr lang="en" sz="1600"/>
              <a:t>code and trained models are available at https://selfrag.github.io/.</a:t>
            </a:r>
            <a:endParaRPr sz="1600"/>
          </a:p>
          <a:p>
            <a:pPr indent="0" lvl="0" marL="457200" rtl="0" algn="l">
              <a:lnSpc>
                <a:spcPct val="115000"/>
              </a:lnSpc>
              <a:spcBef>
                <a:spcPts val="1200"/>
              </a:spcBef>
              <a:spcAft>
                <a:spcPts val="1200"/>
              </a:spcAft>
              <a:buNone/>
            </a:pPr>
            <a:r>
              <a:t/>
            </a:r>
            <a:endParaRPr sz="15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b="1" lang="en" sz="1020"/>
              <a:t>Figure 1: Overview of SELF-RAG. SELF-RAG learns to retrieve, critique, and generate text passages</a:t>
            </a:r>
            <a:endParaRPr b="1" sz="1020"/>
          </a:p>
          <a:p>
            <a:pPr indent="0" lvl="0" marL="0" rtl="0" algn="l">
              <a:lnSpc>
                <a:spcPct val="115000"/>
              </a:lnSpc>
              <a:spcBef>
                <a:spcPts val="0"/>
              </a:spcBef>
              <a:spcAft>
                <a:spcPts val="0"/>
              </a:spcAft>
              <a:buClr>
                <a:schemeClr val="dk1"/>
              </a:buClr>
              <a:buSzPts val="990"/>
              <a:buFont typeface="Arial"/>
              <a:buNone/>
            </a:pPr>
            <a:r>
              <a:rPr b="1" lang="en" sz="1020"/>
              <a:t>to enhance overall generation quality, factuality, and verifiability.</a:t>
            </a:r>
            <a:endParaRPr b="1" sz="1020"/>
          </a:p>
          <a:p>
            <a:pPr indent="0" lvl="0" marL="0" rtl="0" algn="l">
              <a:spcBef>
                <a:spcPts val="0"/>
              </a:spcBef>
              <a:spcAft>
                <a:spcPts val="0"/>
              </a:spcAft>
              <a:buSzPts val="990"/>
              <a:buNone/>
            </a:pPr>
            <a:r>
              <a:t/>
            </a:r>
            <a:endParaRPr b="1" sz="1020"/>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68" name="Google Shape;68;p15" title="Screenshot 2025-11-29 at 9.58.28 pm.png"/>
          <p:cNvPicPr preferRelativeResize="0"/>
          <p:nvPr/>
        </p:nvPicPr>
        <p:blipFill>
          <a:blip r:embed="rId3">
            <a:alphaModFix/>
          </a:blip>
          <a:stretch>
            <a:fillRect/>
          </a:stretch>
        </p:blipFill>
        <p:spPr>
          <a:xfrm>
            <a:off x="311700" y="1056400"/>
            <a:ext cx="7634901" cy="37933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600"/>
              <a:t>Retrieval-Augmented Generation (RAG)</a:t>
            </a:r>
            <a:endParaRPr b="1" sz="3200"/>
          </a:p>
        </p:txBody>
      </p:sp>
      <p:sp>
        <p:nvSpPr>
          <p:cNvPr id="74" name="Google Shape;74;p16"/>
          <p:cNvSpPr txBox="1"/>
          <p:nvPr>
            <p:ph idx="1" type="body"/>
          </p:nvPr>
        </p:nvSpPr>
        <p:spPr>
          <a:xfrm>
            <a:off x="311700" y="1125100"/>
            <a:ext cx="8520600" cy="384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275"/>
              <a:buFont typeface="Arial"/>
              <a:buNone/>
            </a:pPr>
            <a:r>
              <a:rPr lang="en" sz="830">
                <a:solidFill>
                  <a:schemeClr val="dk1"/>
                </a:solidFill>
              </a:rPr>
              <a:t>-</a:t>
            </a:r>
            <a:r>
              <a:rPr lang="en" sz="780">
                <a:solidFill>
                  <a:schemeClr val="dk1"/>
                </a:solidFill>
              </a:rPr>
              <a:t>&gt; RAG enhances LLMs by adding retrieved text passages to their input.</a:t>
            </a:r>
            <a:endParaRPr sz="780">
              <a:solidFill>
                <a:schemeClr val="dk1"/>
              </a:solidFill>
            </a:endParaRPr>
          </a:p>
          <a:p>
            <a:pPr indent="0" lvl="0" marL="0" rtl="0" algn="l">
              <a:spcBef>
                <a:spcPts val="0"/>
              </a:spcBef>
              <a:spcAft>
                <a:spcPts val="0"/>
              </a:spcAft>
              <a:buClr>
                <a:schemeClr val="dk1"/>
              </a:buClr>
              <a:buSzPts val="275"/>
              <a:buFont typeface="Arial"/>
              <a:buNone/>
            </a:pPr>
            <a:r>
              <a:rPr lang="en" sz="780">
                <a:solidFill>
                  <a:schemeClr val="dk1"/>
                </a:solidFill>
              </a:rPr>
              <a:t>-&gt; Helps improve performance on knowledge-heavy tasks.</a:t>
            </a:r>
            <a:endParaRPr sz="780">
              <a:solidFill>
                <a:schemeClr val="dk1"/>
              </a:solidFill>
            </a:endParaRPr>
          </a:p>
          <a:p>
            <a:pPr indent="0" lvl="0" marL="0" rtl="0" algn="l">
              <a:spcBef>
                <a:spcPts val="0"/>
              </a:spcBef>
              <a:spcAft>
                <a:spcPts val="0"/>
              </a:spcAft>
              <a:buClr>
                <a:schemeClr val="dk1"/>
              </a:buClr>
              <a:buSzPts val="275"/>
              <a:buFont typeface="Arial"/>
              <a:buNone/>
            </a:pPr>
            <a:r>
              <a:rPr lang="en" sz="780">
                <a:solidFill>
                  <a:schemeClr val="dk1"/>
                </a:solidFill>
              </a:rPr>
              <a:t>-&gt; Early RAG methods retrieved a fixed number of documents before generation.</a:t>
            </a:r>
            <a:endParaRPr sz="780">
              <a:solidFill>
                <a:schemeClr val="dk1"/>
              </a:solidFill>
            </a:endParaRPr>
          </a:p>
          <a:p>
            <a:pPr indent="0" lvl="0" marL="0" rtl="0" algn="l">
              <a:spcBef>
                <a:spcPts val="0"/>
              </a:spcBef>
              <a:spcAft>
                <a:spcPts val="0"/>
              </a:spcAft>
              <a:buClr>
                <a:schemeClr val="dk1"/>
              </a:buClr>
              <a:buSzPts val="275"/>
              <a:buFont typeface="Arial"/>
              <a:buNone/>
            </a:pPr>
            <a:r>
              <a:rPr lang="en" sz="780">
                <a:solidFill>
                  <a:schemeClr val="dk1"/>
                </a:solidFill>
              </a:rPr>
              <a:t>-&gt; Some models jointly train the retriever + LLM or add retrieved passages during instruction tuning.</a:t>
            </a:r>
            <a:endParaRPr sz="780">
              <a:solidFill>
                <a:schemeClr val="dk1"/>
              </a:solidFill>
            </a:endParaRPr>
          </a:p>
          <a:p>
            <a:pPr indent="0" lvl="0" marL="0" rtl="0" algn="l">
              <a:spcBef>
                <a:spcPts val="0"/>
              </a:spcBef>
              <a:spcAft>
                <a:spcPts val="0"/>
              </a:spcAft>
              <a:buClr>
                <a:schemeClr val="dk1"/>
              </a:buClr>
              <a:buSzPts val="275"/>
              <a:buFont typeface="Arial"/>
              <a:buNone/>
            </a:pPr>
            <a:r>
              <a:rPr lang="en" sz="780">
                <a:solidFill>
                  <a:schemeClr val="dk1"/>
                </a:solidFill>
              </a:rPr>
              <a:t>-&gt; Newer methods attempt adaptive retrieval, but often suffer from:</a:t>
            </a:r>
            <a:endParaRPr sz="780">
              <a:solidFill>
                <a:schemeClr val="dk1"/>
              </a:solidFill>
            </a:endParaRPr>
          </a:p>
          <a:p>
            <a:pPr indent="-278178" lvl="0" marL="457200" rtl="0" algn="l">
              <a:spcBef>
                <a:spcPts val="1200"/>
              </a:spcBef>
              <a:spcAft>
                <a:spcPts val="0"/>
              </a:spcAft>
              <a:buClr>
                <a:schemeClr val="dk1"/>
              </a:buClr>
              <a:buSzPts val="781"/>
              <a:buChar char="●"/>
            </a:pPr>
            <a:r>
              <a:rPr lang="en" sz="780">
                <a:solidFill>
                  <a:schemeClr val="dk1"/>
                </a:solidFill>
              </a:rPr>
              <a:t>slower run-time,</a:t>
            </a:r>
            <a:endParaRPr sz="780">
              <a:solidFill>
                <a:schemeClr val="dk1"/>
              </a:solidFill>
            </a:endParaRPr>
          </a:p>
          <a:p>
            <a:pPr indent="-278178" lvl="0" marL="457200" rtl="0" algn="l">
              <a:spcBef>
                <a:spcPts val="0"/>
              </a:spcBef>
              <a:spcAft>
                <a:spcPts val="0"/>
              </a:spcAft>
              <a:buClr>
                <a:schemeClr val="dk1"/>
              </a:buClr>
              <a:buSzPts val="781"/>
              <a:buChar char="●"/>
            </a:pPr>
            <a:r>
              <a:rPr lang="en" sz="780">
                <a:solidFill>
                  <a:schemeClr val="dk1"/>
                </a:solidFill>
              </a:rPr>
              <a:t>sensitivity to irrelevant documents,</a:t>
            </a:r>
            <a:endParaRPr sz="780">
              <a:solidFill>
                <a:schemeClr val="dk1"/>
              </a:solidFill>
            </a:endParaRPr>
          </a:p>
          <a:p>
            <a:pPr indent="-278178" lvl="0" marL="457200" rtl="0" algn="l">
              <a:spcBef>
                <a:spcPts val="0"/>
              </a:spcBef>
              <a:spcAft>
                <a:spcPts val="0"/>
              </a:spcAft>
              <a:buClr>
                <a:schemeClr val="dk1"/>
              </a:buClr>
              <a:buSzPts val="781"/>
              <a:buChar char="●"/>
            </a:pPr>
            <a:r>
              <a:rPr lang="en" sz="780">
                <a:solidFill>
                  <a:schemeClr val="dk1"/>
                </a:solidFill>
              </a:rPr>
              <a:t>missing or incorrect citations.</a:t>
            </a:r>
            <a:endParaRPr sz="780">
              <a:solidFill>
                <a:schemeClr val="dk1"/>
              </a:solidFill>
            </a:endParaRPr>
          </a:p>
          <a:p>
            <a:pPr indent="0" lvl="0" marL="457200" rtl="0" algn="l">
              <a:spcBef>
                <a:spcPts val="1200"/>
              </a:spcBef>
              <a:spcAft>
                <a:spcPts val="0"/>
              </a:spcAft>
              <a:buSzPts val="275"/>
              <a:buNone/>
            </a:pPr>
            <a:r>
              <a:t/>
            </a:r>
            <a:endParaRPr sz="225">
              <a:solidFill>
                <a:schemeClr val="dk1"/>
              </a:solidFill>
            </a:endParaRPr>
          </a:p>
          <a:p>
            <a:pPr indent="0" lvl="0" marL="457200" rtl="0" algn="l">
              <a:spcBef>
                <a:spcPts val="1200"/>
              </a:spcBef>
              <a:spcAft>
                <a:spcPts val="0"/>
              </a:spcAft>
              <a:buSzPts val="275"/>
              <a:buNone/>
            </a:pPr>
            <a:r>
              <a:t/>
            </a:r>
            <a:endParaRPr sz="225">
              <a:solidFill>
                <a:schemeClr val="dk1"/>
              </a:solidFill>
            </a:endParaRPr>
          </a:p>
          <a:p>
            <a:pPr indent="0" lvl="0" marL="457200" rtl="0" algn="l">
              <a:spcBef>
                <a:spcPts val="1200"/>
              </a:spcBef>
              <a:spcAft>
                <a:spcPts val="0"/>
              </a:spcAft>
              <a:buSzPts val="275"/>
              <a:buNone/>
            </a:pPr>
            <a:r>
              <a:t/>
            </a:r>
            <a:endParaRPr sz="225">
              <a:solidFill>
                <a:schemeClr val="dk1"/>
              </a:solidFill>
            </a:endParaRPr>
          </a:p>
          <a:p>
            <a:pPr indent="0" lvl="0" marL="457200" rtl="0" algn="l">
              <a:spcBef>
                <a:spcPts val="1200"/>
              </a:spcBef>
              <a:spcAft>
                <a:spcPts val="0"/>
              </a:spcAft>
              <a:buSzPts val="275"/>
              <a:buNone/>
            </a:pPr>
            <a:r>
              <a:t/>
            </a:r>
            <a:endParaRPr sz="225">
              <a:solidFill>
                <a:schemeClr val="dk1"/>
              </a:solidFill>
            </a:endParaRPr>
          </a:p>
          <a:p>
            <a:pPr indent="0" lvl="0" marL="457200" rtl="0" algn="l">
              <a:spcBef>
                <a:spcPts val="1200"/>
              </a:spcBef>
              <a:spcAft>
                <a:spcPts val="0"/>
              </a:spcAft>
              <a:buSzPts val="275"/>
              <a:buNone/>
            </a:pPr>
            <a:r>
              <a:t/>
            </a:r>
            <a:endParaRPr sz="225">
              <a:solidFill>
                <a:schemeClr val="dk1"/>
              </a:solidFill>
            </a:endParaRPr>
          </a:p>
          <a:p>
            <a:pPr indent="0" lvl="0" marL="457200" rtl="0" algn="l">
              <a:spcBef>
                <a:spcPts val="1200"/>
              </a:spcBef>
              <a:spcAft>
                <a:spcPts val="0"/>
              </a:spcAft>
              <a:buSzPts val="275"/>
              <a:buNone/>
            </a:pPr>
            <a:r>
              <a:t/>
            </a:r>
            <a:endParaRPr sz="225">
              <a:solidFill>
                <a:schemeClr val="dk1"/>
              </a:solidFill>
            </a:endParaRPr>
          </a:p>
          <a:p>
            <a:pPr indent="0" lvl="0" marL="457200" rtl="0" algn="l">
              <a:spcBef>
                <a:spcPts val="1200"/>
              </a:spcBef>
              <a:spcAft>
                <a:spcPts val="0"/>
              </a:spcAft>
              <a:buSzPts val="275"/>
              <a:buNone/>
            </a:pPr>
            <a:r>
              <a:t/>
            </a:r>
            <a:endParaRPr sz="225">
              <a:solidFill>
                <a:schemeClr val="dk1"/>
              </a:solidFill>
            </a:endParaRPr>
          </a:p>
          <a:p>
            <a:pPr indent="0" lvl="0" marL="0" rtl="0" algn="l">
              <a:spcBef>
                <a:spcPts val="1200"/>
              </a:spcBef>
              <a:spcAft>
                <a:spcPts val="0"/>
              </a:spcAft>
              <a:buSzPts val="275"/>
              <a:buNone/>
            </a:pPr>
            <a:r>
              <a:t/>
            </a:r>
            <a:endParaRPr sz="230">
              <a:solidFill>
                <a:schemeClr val="dk1"/>
              </a:solidFill>
            </a:endParaRPr>
          </a:p>
          <a:p>
            <a:pPr indent="0" lvl="0" marL="0" rtl="0" algn="l">
              <a:spcBef>
                <a:spcPts val="0"/>
              </a:spcBef>
              <a:spcAft>
                <a:spcPts val="0"/>
              </a:spcAft>
              <a:buSzPts val="275"/>
              <a:buNone/>
            </a:pPr>
            <a:r>
              <a:t/>
            </a:r>
            <a:endParaRPr sz="230">
              <a:solidFill>
                <a:schemeClr val="dk1"/>
              </a:solidFill>
            </a:endParaRPr>
          </a:p>
          <a:p>
            <a:pPr indent="0" lvl="0" marL="0" rtl="0" algn="l">
              <a:spcBef>
                <a:spcPts val="0"/>
              </a:spcBef>
              <a:spcAft>
                <a:spcPts val="0"/>
              </a:spcAft>
              <a:buSzPts val="275"/>
              <a:buNone/>
            </a:pPr>
            <a:r>
              <a:t/>
            </a:r>
            <a:endParaRPr sz="230">
              <a:solidFill>
                <a:schemeClr val="dk1"/>
              </a:solidFill>
            </a:endParaRPr>
          </a:p>
          <a:p>
            <a:pPr indent="0" lvl="0" marL="0" rtl="0" algn="l">
              <a:spcBef>
                <a:spcPts val="0"/>
              </a:spcBef>
              <a:spcAft>
                <a:spcPts val="0"/>
              </a:spcAft>
              <a:buSzPts val="275"/>
              <a:buNone/>
            </a:pPr>
            <a:r>
              <a:t/>
            </a:r>
            <a:endParaRPr sz="830">
              <a:solidFill>
                <a:schemeClr val="dk1"/>
              </a:solidFill>
            </a:endParaRPr>
          </a:p>
          <a:p>
            <a:pPr indent="0" lvl="0" marL="0" rtl="0" algn="l">
              <a:spcBef>
                <a:spcPts val="0"/>
              </a:spcBef>
              <a:spcAft>
                <a:spcPts val="0"/>
              </a:spcAft>
              <a:buClr>
                <a:schemeClr val="dk1"/>
              </a:buClr>
              <a:buSzPts val="275"/>
              <a:buFont typeface="Arial"/>
              <a:buNone/>
            </a:pPr>
            <a:r>
              <a:rPr lang="en" sz="830">
                <a:solidFill>
                  <a:schemeClr val="dk1"/>
                </a:solidFill>
              </a:rPr>
              <a:t>Table 1: Four types of reflection tokens used in SELF-RAG. Each type uses several tokens to represent its output values. The bottom three rows are three types of Critique tokens, and the bold text indicates the most desirable critique tokens. x,y,dindicate input, output, and a relevant passage, respectively.</a:t>
            </a:r>
            <a:endParaRPr sz="830">
              <a:solidFill>
                <a:schemeClr val="dk1"/>
              </a:solidFill>
            </a:endParaRPr>
          </a:p>
          <a:p>
            <a:pPr indent="0" lvl="0" marL="0" rtl="0" algn="l">
              <a:lnSpc>
                <a:spcPct val="100000"/>
              </a:lnSpc>
              <a:spcBef>
                <a:spcPts val="0"/>
              </a:spcBef>
              <a:spcAft>
                <a:spcPts val="0"/>
              </a:spcAft>
              <a:buClr>
                <a:schemeClr val="dk1"/>
              </a:buClr>
              <a:buSzPts val="275"/>
              <a:buFont typeface="Arial"/>
              <a:buNone/>
            </a:pPr>
            <a:r>
              <a:t/>
            </a:r>
            <a:endParaRPr sz="830">
              <a:solidFill>
                <a:schemeClr val="dk1"/>
              </a:solidFill>
            </a:endParaRPr>
          </a:p>
          <a:p>
            <a:pPr indent="0" lvl="0" marL="457200" rtl="0" algn="l">
              <a:spcBef>
                <a:spcPts val="1200"/>
              </a:spcBef>
              <a:spcAft>
                <a:spcPts val="0"/>
              </a:spcAft>
              <a:buSzPts val="275"/>
              <a:buNone/>
            </a:pPr>
            <a:r>
              <a:t/>
            </a:r>
            <a:endParaRPr sz="225">
              <a:solidFill>
                <a:schemeClr val="dk1"/>
              </a:solidFill>
            </a:endParaRPr>
          </a:p>
          <a:p>
            <a:pPr indent="0" lvl="0" marL="0" rtl="0" algn="l">
              <a:spcBef>
                <a:spcPts val="1200"/>
              </a:spcBef>
              <a:spcAft>
                <a:spcPts val="1200"/>
              </a:spcAft>
              <a:buSzPts val="275"/>
              <a:buNone/>
            </a:pPr>
            <a:r>
              <a:t/>
            </a:r>
            <a:endParaRPr sz="275"/>
          </a:p>
        </p:txBody>
      </p:sp>
      <p:pic>
        <p:nvPicPr>
          <p:cNvPr id="75" name="Google Shape;75;p16" title="Screenshot 2025-11-29 at 10.08.54 pm.png"/>
          <p:cNvPicPr preferRelativeResize="0"/>
          <p:nvPr/>
        </p:nvPicPr>
        <p:blipFill>
          <a:blip r:embed="rId3">
            <a:alphaModFix/>
          </a:blip>
          <a:stretch>
            <a:fillRect/>
          </a:stretch>
        </p:blipFill>
        <p:spPr>
          <a:xfrm>
            <a:off x="311700" y="2445750"/>
            <a:ext cx="8385925" cy="13473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364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1400">
                <a:latin typeface="Times New Roman"/>
                <a:ea typeface="Times New Roman"/>
                <a:cs typeface="Times New Roman"/>
                <a:sym typeface="Times New Roman"/>
              </a:rPr>
              <a:t>Challenges in Existing RAG Methods(Limitations of Previous RAG Approaches)</a:t>
            </a:r>
            <a:endParaRPr sz="3100">
              <a:latin typeface="Times New Roman"/>
              <a:ea typeface="Times New Roman"/>
              <a:cs typeface="Times New Roman"/>
              <a:sym typeface="Times New Roman"/>
            </a:endParaRPr>
          </a:p>
        </p:txBody>
      </p:sp>
      <p:sp>
        <p:nvSpPr>
          <p:cNvPr id="81" name="Google Shape;81;p17"/>
          <p:cNvSpPr txBox="1"/>
          <p:nvPr>
            <p:ph idx="1" type="body"/>
          </p:nvPr>
        </p:nvSpPr>
        <p:spPr>
          <a:xfrm>
            <a:off x="311700" y="919925"/>
            <a:ext cx="8520600" cy="1381500"/>
          </a:xfrm>
          <a:prstGeom prst="rect">
            <a:avLst/>
          </a:prstGeom>
        </p:spPr>
        <p:txBody>
          <a:bodyPr anchorCtr="0" anchor="t" bIns="91425" lIns="91425" spcFirstLastPara="1" rIns="91425" wrap="square" tIns="91425">
            <a:noAutofit/>
          </a:bodyPr>
          <a:lstStyle/>
          <a:p>
            <a:pPr indent="-288925" lvl="0" marL="457200" rtl="0" algn="l">
              <a:lnSpc>
                <a:spcPct val="95000"/>
              </a:lnSpc>
              <a:spcBef>
                <a:spcPts val="0"/>
              </a:spcBef>
              <a:spcAft>
                <a:spcPts val="0"/>
              </a:spcAft>
              <a:buClr>
                <a:schemeClr val="dk1"/>
              </a:buClr>
              <a:buSzPts val="950"/>
              <a:buChar char="●"/>
            </a:pPr>
            <a:r>
              <a:rPr lang="en" sz="950">
                <a:solidFill>
                  <a:schemeClr val="dk1"/>
                </a:solidFill>
              </a:rPr>
              <a:t>Retrieval happens </a:t>
            </a:r>
            <a:r>
              <a:rPr b="1" lang="en" sz="950">
                <a:solidFill>
                  <a:schemeClr val="dk1"/>
                </a:solidFill>
              </a:rPr>
              <a:t>once</a:t>
            </a:r>
            <a:r>
              <a:rPr lang="en" sz="950">
                <a:solidFill>
                  <a:schemeClr val="dk1"/>
                </a:solidFill>
              </a:rPr>
              <a:t>, not throughout generation.</a:t>
            </a:r>
            <a:endParaRPr sz="950">
              <a:solidFill>
                <a:schemeClr val="dk1"/>
              </a:solidFill>
            </a:endParaRPr>
          </a:p>
          <a:p>
            <a:pPr indent="-288925" lvl="0" marL="457200" rtl="0" algn="l">
              <a:lnSpc>
                <a:spcPct val="95000"/>
              </a:lnSpc>
              <a:spcBef>
                <a:spcPts val="0"/>
              </a:spcBef>
              <a:spcAft>
                <a:spcPts val="0"/>
              </a:spcAft>
              <a:buClr>
                <a:schemeClr val="dk1"/>
              </a:buClr>
              <a:buSzPts val="950"/>
              <a:buChar char="●"/>
            </a:pPr>
            <a:r>
              <a:rPr lang="en" sz="950">
                <a:solidFill>
                  <a:schemeClr val="dk1"/>
                </a:solidFill>
              </a:rPr>
              <a:t>Often retrieves information </a:t>
            </a:r>
            <a:r>
              <a:rPr b="1" lang="en" sz="950">
                <a:solidFill>
                  <a:schemeClr val="dk1"/>
                </a:solidFill>
              </a:rPr>
              <a:t>even when it isn’t needed</a:t>
            </a:r>
            <a:r>
              <a:rPr lang="en" sz="950">
                <a:solidFill>
                  <a:schemeClr val="dk1"/>
                </a:solidFill>
              </a:rPr>
              <a:t>.</a:t>
            </a:r>
            <a:endParaRPr sz="950">
              <a:solidFill>
                <a:schemeClr val="dk1"/>
              </a:solidFill>
            </a:endParaRPr>
          </a:p>
          <a:p>
            <a:pPr indent="-288925" lvl="0" marL="457200" rtl="0" algn="l">
              <a:lnSpc>
                <a:spcPct val="95000"/>
              </a:lnSpc>
              <a:spcBef>
                <a:spcPts val="0"/>
              </a:spcBef>
              <a:spcAft>
                <a:spcPts val="0"/>
              </a:spcAft>
              <a:buClr>
                <a:schemeClr val="dk1"/>
              </a:buClr>
              <a:buSzPts val="950"/>
              <a:buChar char="●"/>
            </a:pPr>
            <a:r>
              <a:rPr lang="en" sz="950">
                <a:solidFill>
                  <a:schemeClr val="dk1"/>
                </a:solidFill>
              </a:rPr>
              <a:t>Sometimes includes </a:t>
            </a:r>
            <a:r>
              <a:rPr b="1" lang="en" sz="950">
                <a:solidFill>
                  <a:schemeClr val="dk1"/>
                </a:solidFill>
              </a:rPr>
              <a:t>off-topic or irrelevant documents</a:t>
            </a:r>
            <a:r>
              <a:rPr lang="en" sz="950">
                <a:solidFill>
                  <a:schemeClr val="dk1"/>
                </a:solidFill>
              </a:rPr>
              <a:t> → lowers answer quality.</a:t>
            </a:r>
            <a:endParaRPr sz="950">
              <a:solidFill>
                <a:schemeClr val="dk1"/>
              </a:solidFill>
            </a:endParaRPr>
          </a:p>
          <a:p>
            <a:pPr indent="-288925" lvl="0" marL="457200" rtl="0" algn="l">
              <a:lnSpc>
                <a:spcPct val="95000"/>
              </a:lnSpc>
              <a:spcBef>
                <a:spcPts val="0"/>
              </a:spcBef>
              <a:spcAft>
                <a:spcPts val="0"/>
              </a:spcAft>
              <a:buClr>
                <a:schemeClr val="dk1"/>
              </a:buClr>
              <a:buSzPts val="950"/>
              <a:buChar char="●"/>
            </a:pPr>
            <a:r>
              <a:rPr lang="en" sz="950">
                <a:solidFill>
                  <a:schemeClr val="dk1"/>
                </a:solidFill>
              </a:rPr>
              <a:t>Struggles with </a:t>
            </a:r>
            <a:r>
              <a:rPr b="1" lang="en" sz="950">
                <a:solidFill>
                  <a:schemeClr val="dk1"/>
                </a:solidFill>
              </a:rPr>
              <a:t>attribution</a:t>
            </a:r>
            <a:r>
              <a:rPr lang="en" sz="950">
                <a:solidFill>
                  <a:schemeClr val="dk1"/>
                </a:solidFill>
              </a:rPr>
              <a:t> hard to know which fact came from which passage.</a:t>
            </a:r>
            <a:endParaRPr sz="950">
              <a:solidFill>
                <a:schemeClr val="dk1"/>
              </a:solidFill>
            </a:endParaRPr>
          </a:p>
          <a:p>
            <a:pPr indent="-288925" lvl="0" marL="457200" rtl="0" algn="l">
              <a:lnSpc>
                <a:spcPct val="95000"/>
              </a:lnSpc>
              <a:spcBef>
                <a:spcPts val="0"/>
              </a:spcBef>
              <a:spcAft>
                <a:spcPts val="0"/>
              </a:spcAft>
              <a:buClr>
                <a:schemeClr val="dk1"/>
              </a:buClr>
              <a:buSzPts val="950"/>
              <a:buChar char="●"/>
            </a:pPr>
            <a:r>
              <a:rPr lang="en" sz="950">
                <a:solidFill>
                  <a:schemeClr val="dk1"/>
                </a:solidFill>
              </a:rPr>
              <a:t>Adaptive retrieval methods exist but require </a:t>
            </a:r>
            <a:r>
              <a:rPr b="1" lang="en" sz="950">
                <a:solidFill>
                  <a:schemeClr val="dk1"/>
                </a:solidFill>
              </a:rPr>
              <a:t>proprietary LMs</a:t>
            </a:r>
            <a:r>
              <a:rPr lang="en" sz="950">
                <a:solidFill>
                  <a:schemeClr val="dk1"/>
                </a:solidFill>
              </a:rPr>
              <a:t> or are computationally expensive.</a:t>
            </a:r>
            <a:endParaRPr sz="950"/>
          </a:p>
          <a:p>
            <a:pPr indent="0" lvl="0" marL="0" rtl="0" algn="l">
              <a:lnSpc>
                <a:spcPct val="95000"/>
              </a:lnSpc>
              <a:spcBef>
                <a:spcPts val="0"/>
              </a:spcBef>
              <a:spcAft>
                <a:spcPts val="0"/>
              </a:spcAft>
              <a:buSzPts val="605"/>
              <a:buNone/>
            </a:pPr>
            <a:r>
              <a:t/>
            </a:r>
            <a:endParaRPr sz="950">
              <a:solidFill>
                <a:schemeClr val="dk1"/>
              </a:solidFill>
            </a:endParaRPr>
          </a:p>
          <a:p>
            <a:pPr indent="0" lvl="0" marL="0" rtl="0" algn="l">
              <a:lnSpc>
                <a:spcPct val="95000"/>
              </a:lnSpc>
              <a:spcBef>
                <a:spcPts val="1200"/>
              </a:spcBef>
              <a:spcAft>
                <a:spcPts val="0"/>
              </a:spcAft>
              <a:buSzPts val="605"/>
              <a:buNone/>
            </a:pPr>
            <a:r>
              <a:rPr lang="en" sz="850">
                <a:solidFill>
                  <a:schemeClr val="dk1"/>
                </a:solidFill>
              </a:rPr>
              <a:t>Key point : Traditional RAG lacks </a:t>
            </a:r>
            <a:r>
              <a:rPr i="1" lang="en" sz="850">
                <a:solidFill>
                  <a:schemeClr val="dk1"/>
                </a:solidFill>
              </a:rPr>
              <a:t>control</a:t>
            </a:r>
            <a:r>
              <a:rPr lang="en" sz="850">
                <a:solidFill>
                  <a:schemeClr val="dk1"/>
                </a:solidFill>
              </a:rPr>
              <a:t>, </a:t>
            </a:r>
            <a:r>
              <a:rPr i="1" lang="en" sz="850">
                <a:solidFill>
                  <a:schemeClr val="dk1"/>
                </a:solidFill>
              </a:rPr>
              <a:t>adaptiveness</a:t>
            </a:r>
            <a:r>
              <a:rPr lang="en" sz="850">
                <a:solidFill>
                  <a:schemeClr val="dk1"/>
                </a:solidFill>
              </a:rPr>
              <a:t>, and </a:t>
            </a:r>
            <a:r>
              <a:rPr i="1" lang="en" sz="850">
                <a:solidFill>
                  <a:schemeClr val="dk1"/>
                </a:solidFill>
              </a:rPr>
              <a:t>trustworthy citations</a:t>
            </a:r>
            <a:r>
              <a:rPr lang="en" sz="850">
                <a:solidFill>
                  <a:schemeClr val="dk1"/>
                </a:solidFill>
              </a:rPr>
              <a:t>.</a:t>
            </a:r>
            <a:endParaRPr sz="850">
              <a:solidFill>
                <a:schemeClr val="dk1"/>
              </a:solidFill>
            </a:endParaRPr>
          </a:p>
          <a:p>
            <a:pPr indent="0" lvl="0" marL="0" rtl="0" algn="l">
              <a:lnSpc>
                <a:spcPct val="95000"/>
              </a:lnSpc>
              <a:spcBef>
                <a:spcPts val="1200"/>
              </a:spcBef>
              <a:spcAft>
                <a:spcPts val="1200"/>
              </a:spcAft>
              <a:buSzPts val="605"/>
              <a:buNone/>
            </a:pPr>
            <a:r>
              <a:t/>
            </a:r>
            <a:endParaRPr sz="850">
              <a:solidFill>
                <a:schemeClr val="dk1"/>
              </a:solidFill>
            </a:endParaRPr>
          </a:p>
        </p:txBody>
      </p:sp>
      <p:sp>
        <p:nvSpPr>
          <p:cNvPr id="82" name="Google Shape;82;p17"/>
          <p:cNvSpPr txBox="1"/>
          <p:nvPr>
            <p:ph type="title"/>
          </p:nvPr>
        </p:nvSpPr>
        <p:spPr>
          <a:xfrm>
            <a:off x="311700" y="2301425"/>
            <a:ext cx="4098900" cy="2584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i="1" sz="1200">
              <a:latin typeface="Times New Roman"/>
              <a:ea typeface="Times New Roman"/>
              <a:cs typeface="Times New Roman"/>
              <a:sym typeface="Times New Roman"/>
            </a:endParaRPr>
          </a:p>
          <a:p>
            <a:pPr indent="0" lvl="0" marL="0" rtl="0" algn="l">
              <a:spcBef>
                <a:spcPts val="0"/>
              </a:spcBef>
              <a:spcAft>
                <a:spcPts val="0"/>
              </a:spcAft>
              <a:buNone/>
            </a:pPr>
            <a:r>
              <a:rPr lang="en" sz="1200">
                <a:latin typeface="Times New Roman"/>
                <a:ea typeface="Times New Roman"/>
                <a:cs typeface="Times New Roman"/>
                <a:sym typeface="Times New Roman"/>
              </a:rPr>
              <a:t>How SELF-RAG Improves RAG?</a:t>
            </a:r>
            <a:endParaRPr sz="1300"/>
          </a:p>
          <a:p>
            <a:pPr indent="-285750" lvl="0" marL="457200" rtl="0" algn="l">
              <a:lnSpc>
                <a:spcPct val="115000"/>
              </a:lnSpc>
              <a:spcBef>
                <a:spcPts val="1200"/>
              </a:spcBef>
              <a:spcAft>
                <a:spcPts val="0"/>
              </a:spcAft>
              <a:buSzPct val="100000"/>
              <a:buChar char="●"/>
            </a:pPr>
            <a:r>
              <a:rPr lang="en" sz="1000"/>
              <a:t>Trains any LLM to retrieve only when necessary.</a:t>
            </a:r>
            <a:endParaRPr sz="1000"/>
          </a:p>
          <a:p>
            <a:pPr indent="-285750" lvl="0" marL="457200" rtl="0" algn="l">
              <a:lnSpc>
                <a:spcPct val="115000"/>
              </a:lnSpc>
              <a:spcBef>
                <a:spcPts val="0"/>
              </a:spcBef>
              <a:spcAft>
                <a:spcPts val="0"/>
              </a:spcAft>
              <a:buSzPct val="100000"/>
              <a:buChar char="●"/>
            </a:pPr>
            <a:r>
              <a:rPr lang="en" sz="1000"/>
              <a:t>Uses reflection tokens to:</a:t>
            </a:r>
            <a:endParaRPr sz="1000"/>
          </a:p>
          <a:p>
            <a:pPr indent="-285750" lvl="1" marL="914400" rtl="0" algn="l">
              <a:lnSpc>
                <a:spcPct val="115000"/>
              </a:lnSpc>
              <a:spcBef>
                <a:spcPts val="0"/>
              </a:spcBef>
              <a:spcAft>
                <a:spcPts val="0"/>
              </a:spcAft>
              <a:buSzPct val="100000"/>
              <a:buChar char="○"/>
            </a:pPr>
            <a:r>
              <a:rPr lang="en" sz="1000"/>
              <a:t>decide when to retrieve,</a:t>
            </a:r>
            <a:endParaRPr sz="1000"/>
          </a:p>
          <a:p>
            <a:pPr indent="-285750" lvl="1" marL="914400" rtl="0" algn="l">
              <a:lnSpc>
                <a:spcPct val="115000"/>
              </a:lnSpc>
              <a:spcBef>
                <a:spcPts val="0"/>
              </a:spcBef>
              <a:spcAft>
                <a:spcPts val="0"/>
              </a:spcAft>
              <a:buSzPct val="100000"/>
              <a:buChar char="○"/>
            </a:pPr>
            <a:r>
              <a:rPr lang="en" sz="1000"/>
              <a:t>judge relevance,</a:t>
            </a:r>
            <a:endParaRPr sz="1000"/>
          </a:p>
          <a:p>
            <a:pPr indent="-285750" lvl="1" marL="914400" rtl="0" algn="l">
              <a:lnSpc>
                <a:spcPct val="115000"/>
              </a:lnSpc>
              <a:spcBef>
                <a:spcPts val="0"/>
              </a:spcBef>
              <a:spcAft>
                <a:spcPts val="0"/>
              </a:spcAft>
              <a:buSzPct val="100000"/>
              <a:buChar char="○"/>
            </a:pPr>
            <a:r>
              <a:rPr lang="en" sz="1000"/>
              <a:t>evaluate factual support.</a:t>
            </a:r>
            <a:endParaRPr sz="1000"/>
          </a:p>
          <a:p>
            <a:pPr indent="-285750" lvl="0" marL="457200" rtl="0" algn="l">
              <a:lnSpc>
                <a:spcPct val="115000"/>
              </a:lnSpc>
              <a:spcBef>
                <a:spcPts val="0"/>
              </a:spcBef>
              <a:spcAft>
                <a:spcPts val="0"/>
              </a:spcAft>
              <a:buSzPct val="100000"/>
              <a:buChar char="●"/>
            </a:pPr>
            <a:r>
              <a:rPr lang="en" sz="1000"/>
              <a:t>Produces controlled, evidence-aligned generations.</a:t>
            </a:r>
            <a:endParaRPr sz="1000"/>
          </a:p>
          <a:p>
            <a:pPr indent="-285750" lvl="0" marL="457200" rtl="0" algn="l">
              <a:lnSpc>
                <a:spcPct val="115000"/>
              </a:lnSpc>
              <a:spcBef>
                <a:spcPts val="0"/>
              </a:spcBef>
              <a:spcAft>
                <a:spcPts val="0"/>
              </a:spcAft>
              <a:buSzPct val="100000"/>
              <a:buChar char="●"/>
            </a:pPr>
            <a:r>
              <a:rPr lang="en" sz="1000"/>
              <a:t>More robust to irrelevant context and gives better attributions.</a:t>
            </a:r>
            <a:endParaRPr sz="1000"/>
          </a:p>
          <a:p>
            <a:pPr indent="0" lvl="0" marL="0" rtl="0" algn="l">
              <a:lnSpc>
                <a:spcPct val="115000"/>
              </a:lnSpc>
              <a:spcBef>
                <a:spcPts val="1200"/>
              </a:spcBef>
              <a:spcAft>
                <a:spcPts val="0"/>
              </a:spcAft>
              <a:buClr>
                <a:schemeClr val="dk1"/>
              </a:buClr>
              <a:buSzPct val="110000"/>
              <a:buFont typeface="Arial"/>
              <a:buNone/>
            </a:pPr>
            <a:r>
              <a:rPr b="1" lang="en" sz="1000"/>
              <a:t>Keypoint : </a:t>
            </a:r>
            <a:r>
              <a:rPr lang="en" sz="1000"/>
              <a:t>SELF-RAG makes retrieval smarter, selective, and evidence-aware.</a:t>
            </a:r>
            <a:endParaRPr sz="1000"/>
          </a:p>
          <a:p>
            <a:pPr indent="0" lvl="0" marL="0" rtl="0" algn="l">
              <a:lnSpc>
                <a:spcPct val="115000"/>
              </a:lnSpc>
              <a:spcBef>
                <a:spcPts val="1200"/>
              </a:spcBef>
              <a:spcAft>
                <a:spcPts val="0"/>
              </a:spcAft>
              <a:buClr>
                <a:schemeClr val="dk1"/>
              </a:buClr>
              <a:buSzPct val="55000"/>
              <a:buFont typeface="Arial"/>
              <a:buNone/>
            </a:pPr>
            <a:r>
              <a:t/>
            </a:r>
            <a:endParaRPr sz="2000">
              <a:solidFill>
                <a:schemeClr val="dk2"/>
              </a:solidFill>
            </a:endParaRPr>
          </a:p>
          <a:p>
            <a:pPr indent="0" lvl="0" marL="0" rtl="0" algn="l">
              <a:spcBef>
                <a:spcPts val="1200"/>
              </a:spcBef>
              <a:spcAft>
                <a:spcPts val="0"/>
              </a:spcAft>
              <a:buNone/>
            </a:pPr>
            <a:r>
              <a:t/>
            </a:r>
            <a:endParaRPr i="1" sz="1200">
              <a:latin typeface="Times New Roman"/>
              <a:ea typeface="Times New Roman"/>
              <a:cs typeface="Times New Roman"/>
              <a:sym typeface="Times New Roman"/>
            </a:endParaRPr>
          </a:p>
        </p:txBody>
      </p:sp>
      <p:sp>
        <p:nvSpPr>
          <p:cNvPr id="83" name="Google Shape;83;p17"/>
          <p:cNvSpPr txBox="1"/>
          <p:nvPr>
            <p:ph idx="1" type="body"/>
          </p:nvPr>
        </p:nvSpPr>
        <p:spPr>
          <a:xfrm>
            <a:off x="4629400" y="2301425"/>
            <a:ext cx="4329600" cy="24681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sz="1100">
                <a:solidFill>
                  <a:schemeClr val="dk1"/>
                </a:solidFill>
                <a:latin typeface="Times New Roman"/>
                <a:ea typeface="Times New Roman"/>
                <a:cs typeface="Times New Roman"/>
                <a:sym typeface="Times New Roman"/>
              </a:rPr>
              <a:t>Training SELF-RAG with Critique Signals ? </a:t>
            </a:r>
            <a:endParaRPr sz="700">
              <a:solidFill>
                <a:schemeClr val="dk1"/>
              </a:solidFill>
              <a:latin typeface="Times New Roman"/>
              <a:ea typeface="Times New Roman"/>
              <a:cs typeface="Times New Roman"/>
              <a:sym typeface="Times New Roman"/>
            </a:endParaRPr>
          </a:p>
          <a:p>
            <a:pPr indent="-285750" lvl="0" marL="457200" rtl="0" algn="l">
              <a:lnSpc>
                <a:spcPct val="95000"/>
              </a:lnSpc>
              <a:spcBef>
                <a:spcPts val="1200"/>
              </a:spcBef>
              <a:spcAft>
                <a:spcPts val="0"/>
              </a:spcAft>
              <a:buClr>
                <a:schemeClr val="dk1"/>
              </a:buClr>
              <a:buSzPts val="900"/>
              <a:buFont typeface="Times New Roman"/>
              <a:buChar char="●"/>
            </a:pPr>
            <a:r>
              <a:rPr lang="en" sz="900">
                <a:solidFill>
                  <a:schemeClr val="dk1"/>
                </a:solidFill>
                <a:latin typeface="Times New Roman"/>
                <a:ea typeface="Times New Roman"/>
                <a:cs typeface="Times New Roman"/>
                <a:sym typeface="Times New Roman"/>
              </a:rPr>
              <a:t>Instead of expensive RLHF, SELF-RAG uses a critic model trained offline.</a:t>
            </a:r>
            <a:endParaRPr sz="900">
              <a:solidFill>
                <a:schemeClr val="dk1"/>
              </a:solidFill>
              <a:latin typeface="Times New Roman"/>
              <a:ea typeface="Times New Roman"/>
              <a:cs typeface="Times New Roman"/>
              <a:sym typeface="Times New Roman"/>
            </a:endParaRPr>
          </a:p>
          <a:p>
            <a:pPr indent="-285750" lvl="0" marL="457200" rtl="0" algn="l">
              <a:lnSpc>
                <a:spcPct val="95000"/>
              </a:lnSpc>
              <a:spcBef>
                <a:spcPts val="0"/>
              </a:spcBef>
              <a:spcAft>
                <a:spcPts val="0"/>
              </a:spcAft>
              <a:buClr>
                <a:schemeClr val="dk1"/>
              </a:buClr>
              <a:buSzPts val="900"/>
              <a:buFont typeface="Times New Roman"/>
              <a:buChar char="●"/>
            </a:pPr>
            <a:r>
              <a:rPr lang="en" sz="900">
                <a:solidFill>
                  <a:schemeClr val="dk1"/>
                </a:solidFill>
                <a:latin typeface="Times New Roman"/>
                <a:ea typeface="Times New Roman"/>
                <a:cs typeface="Times New Roman"/>
                <a:sym typeface="Times New Roman"/>
              </a:rPr>
              <a:t>Critic generates reflection tokens that label:</a:t>
            </a:r>
            <a:endParaRPr sz="900">
              <a:solidFill>
                <a:schemeClr val="dk1"/>
              </a:solidFill>
              <a:latin typeface="Times New Roman"/>
              <a:ea typeface="Times New Roman"/>
              <a:cs typeface="Times New Roman"/>
              <a:sym typeface="Times New Roman"/>
            </a:endParaRPr>
          </a:p>
          <a:p>
            <a:pPr indent="-285750" lvl="1" marL="914400" rtl="0" algn="l">
              <a:lnSpc>
                <a:spcPct val="95000"/>
              </a:lnSpc>
              <a:spcBef>
                <a:spcPts val="0"/>
              </a:spcBef>
              <a:spcAft>
                <a:spcPts val="0"/>
              </a:spcAft>
              <a:buClr>
                <a:schemeClr val="dk1"/>
              </a:buClr>
              <a:buSzPts val="900"/>
              <a:buFont typeface="Times New Roman"/>
              <a:buChar char="○"/>
            </a:pPr>
            <a:r>
              <a:rPr lang="en" sz="900">
                <a:solidFill>
                  <a:schemeClr val="dk1"/>
                </a:solidFill>
                <a:latin typeface="Times New Roman"/>
                <a:ea typeface="Times New Roman"/>
                <a:cs typeface="Times New Roman"/>
                <a:sym typeface="Times New Roman"/>
              </a:rPr>
              <a:t>relevance,</a:t>
            </a:r>
            <a:endParaRPr sz="900">
              <a:solidFill>
                <a:schemeClr val="dk1"/>
              </a:solidFill>
              <a:latin typeface="Times New Roman"/>
              <a:ea typeface="Times New Roman"/>
              <a:cs typeface="Times New Roman"/>
              <a:sym typeface="Times New Roman"/>
            </a:endParaRPr>
          </a:p>
          <a:p>
            <a:pPr indent="-285750" lvl="1" marL="914400" rtl="0" algn="l">
              <a:lnSpc>
                <a:spcPct val="95000"/>
              </a:lnSpc>
              <a:spcBef>
                <a:spcPts val="0"/>
              </a:spcBef>
              <a:spcAft>
                <a:spcPts val="0"/>
              </a:spcAft>
              <a:buClr>
                <a:schemeClr val="dk1"/>
              </a:buClr>
              <a:buSzPts val="900"/>
              <a:buFont typeface="Times New Roman"/>
              <a:buChar char="○"/>
            </a:pPr>
            <a:r>
              <a:rPr lang="en" sz="900">
                <a:solidFill>
                  <a:schemeClr val="dk1"/>
                </a:solidFill>
                <a:latin typeface="Times New Roman"/>
                <a:ea typeface="Times New Roman"/>
                <a:cs typeface="Times New Roman"/>
                <a:sym typeface="Times New Roman"/>
              </a:rPr>
              <a:t>support,</a:t>
            </a:r>
            <a:endParaRPr sz="900">
              <a:solidFill>
                <a:schemeClr val="dk1"/>
              </a:solidFill>
              <a:latin typeface="Times New Roman"/>
              <a:ea typeface="Times New Roman"/>
              <a:cs typeface="Times New Roman"/>
              <a:sym typeface="Times New Roman"/>
            </a:endParaRPr>
          </a:p>
          <a:p>
            <a:pPr indent="-285750" lvl="1" marL="914400" rtl="0" algn="l">
              <a:lnSpc>
                <a:spcPct val="95000"/>
              </a:lnSpc>
              <a:spcBef>
                <a:spcPts val="0"/>
              </a:spcBef>
              <a:spcAft>
                <a:spcPts val="0"/>
              </a:spcAft>
              <a:buClr>
                <a:schemeClr val="dk1"/>
              </a:buClr>
              <a:buSzPts val="900"/>
              <a:buFont typeface="Times New Roman"/>
              <a:buChar char="○"/>
            </a:pPr>
            <a:r>
              <a:rPr lang="en" sz="900">
                <a:solidFill>
                  <a:schemeClr val="dk1"/>
                </a:solidFill>
                <a:latin typeface="Times New Roman"/>
                <a:ea typeface="Times New Roman"/>
                <a:cs typeface="Times New Roman"/>
                <a:sym typeface="Times New Roman"/>
              </a:rPr>
              <a:t>usefulness,</a:t>
            </a:r>
            <a:endParaRPr sz="900">
              <a:solidFill>
                <a:schemeClr val="dk1"/>
              </a:solidFill>
              <a:latin typeface="Times New Roman"/>
              <a:ea typeface="Times New Roman"/>
              <a:cs typeface="Times New Roman"/>
              <a:sym typeface="Times New Roman"/>
            </a:endParaRPr>
          </a:p>
          <a:p>
            <a:pPr indent="-285750" lvl="1" marL="914400" rtl="0" algn="l">
              <a:lnSpc>
                <a:spcPct val="95000"/>
              </a:lnSpc>
              <a:spcBef>
                <a:spcPts val="0"/>
              </a:spcBef>
              <a:spcAft>
                <a:spcPts val="0"/>
              </a:spcAft>
              <a:buClr>
                <a:schemeClr val="dk1"/>
              </a:buClr>
              <a:buSzPts val="900"/>
              <a:buFont typeface="Times New Roman"/>
              <a:buChar char="○"/>
            </a:pPr>
            <a:r>
              <a:rPr lang="en" sz="900">
                <a:solidFill>
                  <a:schemeClr val="dk1"/>
                </a:solidFill>
                <a:latin typeface="Times New Roman"/>
                <a:ea typeface="Times New Roman"/>
                <a:cs typeface="Times New Roman"/>
                <a:sym typeface="Times New Roman"/>
              </a:rPr>
              <a:t>retrieval need.</a:t>
            </a:r>
            <a:endParaRPr sz="900">
              <a:solidFill>
                <a:schemeClr val="dk1"/>
              </a:solidFill>
              <a:latin typeface="Times New Roman"/>
              <a:ea typeface="Times New Roman"/>
              <a:cs typeface="Times New Roman"/>
              <a:sym typeface="Times New Roman"/>
            </a:endParaRPr>
          </a:p>
          <a:p>
            <a:pPr indent="-285750" lvl="0" marL="457200" rtl="0" algn="l">
              <a:lnSpc>
                <a:spcPct val="95000"/>
              </a:lnSpc>
              <a:spcBef>
                <a:spcPts val="0"/>
              </a:spcBef>
              <a:spcAft>
                <a:spcPts val="0"/>
              </a:spcAft>
              <a:buClr>
                <a:schemeClr val="dk1"/>
              </a:buClr>
              <a:buSzPts val="900"/>
              <a:buFont typeface="Times New Roman"/>
              <a:buChar char="●"/>
            </a:pPr>
            <a:r>
              <a:rPr lang="en" sz="900">
                <a:solidFill>
                  <a:schemeClr val="dk1"/>
                </a:solidFill>
                <a:latin typeface="Times New Roman"/>
                <a:ea typeface="Times New Roman"/>
                <a:cs typeface="Times New Roman"/>
                <a:sym typeface="Times New Roman"/>
              </a:rPr>
              <a:t>These labels are inserted into training data.</a:t>
            </a:r>
            <a:endParaRPr sz="900">
              <a:solidFill>
                <a:schemeClr val="dk1"/>
              </a:solidFill>
              <a:latin typeface="Times New Roman"/>
              <a:ea typeface="Times New Roman"/>
              <a:cs typeface="Times New Roman"/>
              <a:sym typeface="Times New Roman"/>
            </a:endParaRPr>
          </a:p>
          <a:p>
            <a:pPr indent="-285750" lvl="0" marL="457200" rtl="0" algn="l">
              <a:lnSpc>
                <a:spcPct val="95000"/>
              </a:lnSpc>
              <a:spcBef>
                <a:spcPts val="0"/>
              </a:spcBef>
              <a:spcAft>
                <a:spcPts val="0"/>
              </a:spcAft>
              <a:buClr>
                <a:schemeClr val="dk1"/>
              </a:buClr>
              <a:buSzPts val="900"/>
              <a:buFont typeface="Times New Roman"/>
              <a:buChar char="●"/>
            </a:pPr>
            <a:r>
              <a:rPr lang="en" sz="900">
                <a:solidFill>
                  <a:schemeClr val="dk1"/>
                </a:solidFill>
                <a:latin typeface="Times New Roman"/>
                <a:ea typeface="Times New Roman"/>
                <a:cs typeface="Times New Roman"/>
                <a:sym typeface="Times New Roman"/>
              </a:rPr>
              <a:t>The final LLM learns to self-evaluate its own outputs during inference.</a:t>
            </a:r>
            <a:endParaRPr sz="9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440"/>
              <a:buNone/>
            </a:pPr>
            <a:r>
              <a:rPr lang="en" sz="900">
                <a:solidFill>
                  <a:schemeClr val="dk1"/>
                </a:solidFill>
                <a:latin typeface="Times New Roman"/>
                <a:ea typeface="Times New Roman"/>
                <a:cs typeface="Times New Roman"/>
                <a:sym typeface="Times New Roman"/>
              </a:rPr>
              <a:t>Note : </a:t>
            </a:r>
            <a:r>
              <a:rPr lang="en" sz="900">
                <a:solidFill>
                  <a:schemeClr val="dk1"/>
                </a:solidFill>
              </a:rPr>
              <a:t>A low-cost critic model teaches the LLM to think about when and why to retrieve information.</a:t>
            </a:r>
            <a:endParaRPr sz="900">
              <a:solidFill>
                <a:schemeClr val="dk1"/>
              </a:solidFill>
            </a:endParaRPr>
          </a:p>
          <a:p>
            <a:pPr indent="0" lvl="0" marL="457200" rtl="0" algn="l">
              <a:lnSpc>
                <a:spcPct val="95000"/>
              </a:lnSpc>
              <a:spcBef>
                <a:spcPts val="1200"/>
              </a:spcBef>
              <a:spcAft>
                <a:spcPts val="0"/>
              </a:spcAft>
              <a:buSzPts val="440"/>
              <a:buNone/>
            </a:pPr>
            <a:r>
              <a:t/>
            </a: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1200"/>
              </a:spcAft>
              <a:buSzPts val="440"/>
              <a:buNone/>
            </a:pPr>
            <a:r>
              <a:t/>
            </a:r>
            <a:endParaRPr sz="7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b="1" lang="en" sz="1210">
                <a:latin typeface="Times New Roman"/>
                <a:ea typeface="Times New Roman"/>
                <a:cs typeface="Times New Roman"/>
                <a:sym typeface="Times New Roman"/>
              </a:rPr>
              <a:t>3 S</a:t>
            </a:r>
            <a:r>
              <a:rPr b="1" lang="en" sz="1030">
                <a:latin typeface="Times New Roman"/>
                <a:ea typeface="Times New Roman"/>
                <a:cs typeface="Times New Roman"/>
                <a:sym typeface="Times New Roman"/>
              </a:rPr>
              <a:t>ELF</a:t>
            </a:r>
            <a:r>
              <a:rPr b="1" lang="en" sz="1210">
                <a:latin typeface="Times New Roman"/>
                <a:ea typeface="Times New Roman"/>
                <a:cs typeface="Times New Roman"/>
                <a:sym typeface="Times New Roman"/>
              </a:rPr>
              <a:t>-R</a:t>
            </a:r>
            <a:r>
              <a:rPr b="1" lang="en" sz="1030">
                <a:latin typeface="Times New Roman"/>
                <a:ea typeface="Times New Roman"/>
                <a:cs typeface="Times New Roman"/>
                <a:sym typeface="Times New Roman"/>
              </a:rPr>
              <a:t>AG</a:t>
            </a:r>
            <a:r>
              <a:rPr b="1" lang="en" sz="1210">
                <a:latin typeface="Times New Roman"/>
                <a:ea typeface="Times New Roman"/>
                <a:cs typeface="Times New Roman"/>
                <a:sym typeface="Times New Roman"/>
              </a:rPr>
              <a:t>: L</a:t>
            </a:r>
            <a:r>
              <a:rPr b="1" lang="en" sz="1030">
                <a:latin typeface="Times New Roman"/>
                <a:ea typeface="Times New Roman"/>
                <a:cs typeface="Times New Roman"/>
                <a:sym typeface="Times New Roman"/>
              </a:rPr>
              <a:t>EARNING TO </a:t>
            </a:r>
            <a:r>
              <a:rPr b="1" lang="en" sz="1210">
                <a:latin typeface="Times New Roman"/>
                <a:ea typeface="Times New Roman"/>
                <a:cs typeface="Times New Roman"/>
                <a:sym typeface="Times New Roman"/>
              </a:rPr>
              <a:t>R</a:t>
            </a:r>
            <a:r>
              <a:rPr b="1" lang="en" sz="1030">
                <a:latin typeface="Times New Roman"/>
                <a:ea typeface="Times New Roman"/>
                <a:cs typeface="Times New Roman"/>
                <a:sym typeface="Times New Roman"/>
              </a:rPr>
              <a:t>ETRIEVE</a:t>
            </a:r>
            <a:r>
              <a:rPr b="1" lang="en" sz="1210">
                <a:latin typeface="Times New Roman"/>
                <a:ea typeface="Times New Roman"/>
                <a:cs typeface="Times New Roman"/>
                <a:sym typeface="Times New Roman"/>
              </a:rPr>
              <a:t>, G</a:t>
            </a:r>
            <a:r>
              <a:rPr b="1" lang="en" sz="1030">
                <a:latin typeface="Times New Roman"/>
                <a:ea typeface="Times New Roman"/>
                <a:cs typeface="Times New Roman"/>
                <a:sym typeface="Times New Roman"/>
              </a:rPr>
              <a:t>ENERATE AND </a:t>
            </a:r>
            <a:r>
              <a:rPr b="1" lang="en" sz="1210">
                <a:latin typeface="Times New Roman"/>
                <a:ea typeface="Times New Roman"/>
                <a:cs typeface="Times New Roman"/>
                <a:sym typeface="Times New Roman"/>
              </a:rPr>
              <a:t>C</a:t>
            </a:r>
            <a:r>
              <a:rPr b="1" lang="en" sz="1030">
                <a:latin typeface="Times New Roman"/>
                <a:ea typeface="Times New Roman"/>
                <a:cs typeface="Times New Roman"/>
                <a:sym typeface="Times New Roman"/>
              </a:rPr>
              <a:t>RITIQUE</a:t>
            </a:r>
            <a:br>
              <a:rPr b="1" lang="en" sz="1030">
                <a:latin typeface="Times New Roman"/>
                <a:ea typeface="Times New Roman"/>
                <a:cs typeface="Times New Roman"/>
                <a:sym typeface="Times New Roman"/>
              </a:rPr>
            </a:br>
            <a:r>
              <a:rPr b="1" lang="en" sz="1030">
                <a:latin typeface="Times New Roman"/>
                <a:ea typeface="Times New Roman"/>
                <a:cs typeface="Times New Roman"/>
                <a:sym typeface="Times New Roman"/>
              </a:rPr>
              <a:t>-&gt; </a:t>
            </a:r>
            <a:r>
              <a:rPr b="1" lang="en" sz="1150"/>
              <a:t>P</a:t>
            </a:r>
            <a:r>
              <a:rPr b="1" lang="en" sz="1000"/>
              <a:t>ROBLEM </a:t>
            </a:r>
            <a:r>
              <a:rPr b="1" lang="en" sz="1150"/>
              <a:t>F</a:t>
            </a:r>
            <a:r>
              <a:rPr b="1" lang="en" sz="1000"/>
              <a:t>ORMALIZATION AND </a:t>
            </a:r>
            <a:r>
              <a:rPr b="1" lang="en" sz="1150"/>
              <a:t>O</a:t>
            </a:r>
            <a:r>
              <a:rPr b="1" lang="en" sz="1000"/>
              <a:t>VERVIEW</a:t>
            </a:r>
            <a:endParaRPr b="1" sz="1000"/>
          </a:p>
          <a:p>
            <a:pPr indent="0" lvl="0" marL="0" rtl="0" algn="l">
              <a:lnSpc>
                <a:spcPct val="115000"/>
              </a:lnSpc>
              <a:spcBef>
                <a:spcPts val="0"/>
              </a:spcBef>
              <a:spcAft>
                <a:spcPts val="0"/>
              </a:spcAft>
              <a:buClr>
                <a:schemeClr val="dk1"/>
              </a:buClr>
              <a:buSzPts val="990"/>
              <a:buFont typeface="Arial"/>
              <a:buNone/>
            </a:pPr>
            <a:r>
              <a:t/>
            </a:r>
            <a:endParaRPr sz="1030">
              <a:latin typeface="Times New Roman"/>
              <a:ea typeface="Times New Roman"/>
              <a:cs typeface="Times New Roman"/>
              <a:sym typeface="Times New Roman"/>
            </a:endParaRPr>
          </a:p>
          <a:p>
            <a:pPr indent="0" lvl="0" marL="0" rtl="0" algn="l">
              <a:spcBef>
                <a:spcPts val="0"/>
              </a:spcBef>
              <a:spcAft>
                <a:spcPts val="0"/>
              </a:spcAft>
              <a:buSzPts val="990"/>
              <a:buNone/>
            </a:pPr>
            <a:r>
              <a:t/>
            </a:r>
            <a:endParaRPr sz="2920">
              <a:latin typeface="Times New Roman"/>
              <a:ea typeface="Times New Roman"/>
              <a:cs typeface="Times New Roman"/>
              <a:sym typeface="Times New Roman"/>
            </a:endParaRPr>
          </a:p>
        </p:txBody>
      </p:sp>
      <p:sp>
        <p:nvSpPr>
          <p:cNvPr id="89" name="Google Shape;89;p18"/>
          <p:cNvSpPr txBox="1"/>
          <p:nvPr>
            <p:ph idx="1" type="body"/>
          </p:nvPr>
        </p:nvSpPr>
        <p:spPr>
          <a:xfrm>
            <a:off x="311700" y="1152475"/>
            <a:ext cx="6020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900">
                <a:solidFill>
                  <a:schemeClr val="dk1"/>
                </a:solidFill>
              </a:rPr>
              <a:t>SELF-RAG lets the model retrieve information only when needed and check its own answers using special reflection tokens. This makes the model more accurate and reliable than normal RAG, which retrieves documents blindly.</a:t>
            </a:r>
            <a:endParaRPr sz="900">
              <a:solidFill>
                <a:schemeClr val="dk1"/>
              </a:solidFill>
            </a:endParaRPr>
          </a:p>
          <a:p>
            <a:pPr indent="0" lvl="0" marL="0" rtl="0" algn="l">
              <a:spcBef>
                <a:spcPts val="0"/>
              </a:spcBef>
              <a:spcAft>
                <a:spcPts val="0"/>
              </a:spcAft>
              <a:buNone/>
            </a:pPr>
            <a:r>
              <a:t/>
            </a:r>
            <a:endParaRPr sz="900">
              <a:solidFill>
                <a:schemeClr val="dk1"/>
              </a:solidFill>
            </a:endParaRPr>
          </a:p>
          <a:p>
            <a:pPr indent="0" lvl="0" marL="0" rtl="0" algn="l">
              <a:spcBef>
                <a:spcPts val="1200"/>
              </a:spcBef>
              <a:spcAft>
                <a:spcPts val="0"/>
              </a:spcAft>
              <a:buNone/>
            </a:pPr>
            <a:r>
              <a:t/>
            </a:r>
            <a:endParaRPr sz="900">
              <a:solidFill>
                <a:schemeClr val="dk1"/>
              </a:solidFill>
            </a:endParaRPr>
          </a:p>
          <a:p>
            <a:pPr indent="0" lvl="0" marL="0" rtl="0" algn="l">
              <a:spcBef>
                <a:spcPts val="1200"/>
              </a:spcBef>
              <a:spcAft>
                <a:spcPts val="0"/>
              </a:spcAft>
              <a:buNone/>
            </a:pPr>
            <a:r>
              <a:t/>
            </a:r>
            <a:endParaRPr sz="900">
              <a:solidFill>
                <a:schemeClr val="dk1"/>
              </a:solidFill>
            </a:endParaRPr>
          </a:p>
          <a:p>
            <a:pPr indent="0" lvl="0" marL="0" rtl="0" algn="l">
              <a:spcBef>
                <a:spcPts val="1200"/>
              </a:spcBef>
              <a:spcAft>
                <a:spcPts val="0"/>
              </a:spcAft>
              <a:buNone/>
            </a:pPr>
            <a:r>
              <a:t/>
            </a:r>
            <a:endParaRPr sz="900">
              <a:solidFill>
                <a:schemeClr val="dk1"/>
              </a:solidFill>
            </a:endParaRPr>
          </a:p>
          <a:p>
            <a:pPr indent="0" lvl="0" marL="0" rtl="0" algn="l">
              <a:spcBef>
                <a:spcPts val="1200"/>
              </a:spcBef>
              <a:spcAft>
                <a:spcPts val="0"/>
              </a:spcAft>
              <a:buNone/>
            </a:pPr>
            <a:r>
              <a:t/>
            </a:r>
            <a:endParaRPr sz="900">
              <a:solidFill>
                <a:schemeClr val="dk1"/>
              </a:solidFill>
            </a:endParaRPr>
          </a:p>
          <a:p>
            <a:pPr indent="0" lvl="0" marL="0" rtl="0" algn="l">
              <a:spcBef>
                <a:spcPts val="1200"/>
              </a:spcBef>
              <a:spcAft>
                <a:spcPts val="0"/>
              </a:spcAft>
              <a:buNone/>
            </a:pPr>
            <a:r>
              <a:t/>
            </a:r>
            <a:endParaRPr sz="900">
              <a:solidFill>
                <a:schemeClr val="dk1"/>
              </a:solidFill>
            </a:endParaRPr>
          </a:p>
          <a:p>
            <a:pPr indent="0" lvl="0" marL="0" rtl="0" algn="l">
              <a:spcBef>
                <a:spcPts val="1200"/>
              </a:spcBef>
              <a:spcAft>
                <a:spcPts val="0"/>
              </a:spcAft>
              <a:buNone/>
            </a:pPr>
            <a:r>
              <a:rPr lang="en" sz="1100">
                <a:solidFill>
                  <a:schemeClr val="dk1"/>
                </a:solidFill>
              </a:rPr>
              <a:t>    </a:t>
            </a:r>
            <a:r>
              <a:rPr lang="en" sz="1100">
                <a:solidFill>
                  <a:schemeClr val="dk1"/>
                </a:solidFill>
                <a:latin typeface="Times New Roman"/>
                <a:ea typeface="Times New Roman"/>
                <a:cs typeface="Times New Roman"/>
                <a:sym typeface="Times New Roman"/>
              </a:rPr>
              <a:t> </a:t>
            </a:r>
            <a:endParaRPr sz="900">
              <a:solidFill>
                <a:schemeClr val="dk1"/>
              </a:solidFill>
              <a:latin typeface="Times New Roman"/>
              <a:ea typeface="Times New Roman"/>
              <a:cs typeface="Times New Roman"/>
              <a:sym typeface="Times New Roman"/>
            </a:endParaRPr>
          </a:p>
        </p:txBody>
      </p:sp>
      <p:pic>
        <p:nvPicPr>
          <p:cNvPr id="90" name="Google Shape;90;p18" title="Screenshot 2025-12-03 at 4.58.28 pm.png"/>
          <p:cNvPicPr preferRelativeResize="0"/>
          <p:nvPr/>
        </p:nvPicPr>
        <p:blipFill>
          <a:blip r:embed="rId3">
            <a:alphaModFix/>
          </a:blip>
          <a:stretch>
            <a:fillRect/>
          </a:stretch>
        </p:blipFill>
        <p:spPr>
          <a:xfrm>
            <a:off x="419900" y="1694925"/>
            <a:ext cx="5625349" cy="2343075"/>
          </a:xfrm>
          <a:prstGeom prst="rect">
            <a:avLst/>
          </a:prstGeom>
          <a:noFill/>
          <a:ln>
            <a:noFill/>
          </a:ln>
        </p:spPr>
      </p:pic>
      <p:sp>
        <p:nvSpPr>
          <p:cNvPr id="91" name="Google Shape;91;p18"/>
          <p:cNvSpPr txBox="1"/>
          <p:nvPr>
            <p:ph idx="1" type="body"/>
          </p:nvPr>
        </p:nvSpPr>
        <p:spPr>
          <a:xfrm>
            <a:off x="6332400" y="139100"/>
            <a:ext cx="2607900" cy="4199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900">
                <a:solidFill>
                  <a:schemeClr val="dk1"/>
                </a:solidFill>
              </a:rPr>
              <a:t>S</a:t>
            </a:r>
            <a:r>
              <a:rPr b="1" lang="en" sz="700">
                <a:solidFill>
                  <a:schemeClr val="dk1"/>
                </a:solidFill>
              </a:rPr>
              <a:t>ELF</a:t>
            </a:r>
            <a:r>
              <a:rPr b="1" lang="en" sz="900">
                <a:solidFill>
                  <a:schemeClr val="dk1"/>
                </a:solidFill>
              </a:rPr>
              <a:t>-R</a:t>
            </a:r>
            <a:r>
              <a:rPr b="1" lang="en" sz="700">
                <a:solidFill>
                  <a:schemeClr val="dk1"/>
                </a:solidFill>
              </a:rPr>
              <a:t>AG </a:t>
            </a:r>
            <a:r>
              <a:rPr b="1" lang="en" sz="900">
                <a:solidFill>
                  <a:schemeClr val="dk1"/>
                </a:solidFill>
              </a:rPr>
              <a:t>D</a:t>
            </a:r>
            <a:r>
              <a:rPr b="1" lang="en" sz="700">
                <a:solidFill>
                  <a:schemeClr val="dk1"/>
                </a:solidFill>
              </a:rPr>
              <a:t>ETAILS</a:t>
            </a:r>
            <a:endParaRPr b="1" sz="1000">
              <a:solidFill>
                <a:schemeClr val="dk1"/>
              </a:solidFill>
            </a:endParaRPr>
          </a:p>
          <a:p>
            <a:pPr indent="-292100" lvl="0" marL="457200" rtl="0" algn="l">
              <a:spcBef>
                <a:spcPts val="1200"/>
              </a:spcBef>
              <a:spcAft>
                <a:spcPts val="0"/>
              </a:spcAft>
              <a:buClr>
                <a:schemeClr val="dk1"/>
              </a:buClr>
              <a:buSzPts val="1000"/>
              <a:buChar char="●"/>
            </a:pPr>
            <a:r>
              <a:rPr lang="en" sz="1000">
                <a:solidFill>
                  <a:schemeClr val="dk1"/>
                </a:solidFill>
              </a:rPr>
              <a:t>Reflection tokens help the model decide when to retrieve, whether the retrieved text is relevant, how well the answer is supported, and how useful the final response is.</a:t>
            </a:r>
            <a:endParaRPr sz="1000">
              <a:solidFill>
                <a:schemeClr val="dk1"/>
              </a:solidFill>
            </a:endParaRPr>
          </a:p>
          <a:p>
            <a:pPr indent="-292100" lvl="0" marL="457200" rtl="0" algn="l">
              <a:spcBef>
                <a:spcPts val="0"/>
              </a:spcBef>
              <a:spcAft>
                <a:spcPts val="0"/>
              </a:spcAft>
              <a:buClr>
                <a:schemeClr val="dk1"/>
              </a:buClr>
              <a:buSzPts val="1000"/>
              <a:buChar char="●"/>
            </a:pPr>
            <a:r>
              <a:rPr lang="en" sz="1000">
                <a:solidFill>
                  <a:schemeClr val="dk1"/>
                </a:solidFill>
              </a:rPr>
              <a:t>GPT-4 is used to generate training examples for these tokens, and only well-formatted outputs are kept.</a:t>
            </a:r>
            <a:endParaRPr sz="1000">
              <a:solidFill>
                <a:schemeClr val="dk1"/>
              </a:solidFill>
            </a:endParaRPr>
          </a:p>
          <a:p>
            <a:pPr indent="-292100" lvl="0" marL="457200" rtl="0" algn="l">
              <a:spcBef>
                <a:spcPts val="0"/>
              </a:spcBef>
              <a:spcAft>
                <a:spcPts val="0"/>
              </a:spcAft>
              <a:buClr>
                <a:schemeClr val="dk1"/>
              </a:buClr>
              <a:buSzPts val="1000"/>
              <a:buChar char="●"/>
            </a:pPr>
            <a:r>
              <a:rPr lang="en" sz="1000">
                <a:solidFill>
                  <a:schemeClr val="dk1"/>
                </a:solidFill>
              </a:rPr>
              <a:t>Human checks show high agreement with GPT-4’s labels, meaning GPT-4 gives reliable judgments for these fine-grained reflection categories.</a:t>
            </a:r>
            <a:endParaRPr sz="1000">
              <a:solidFill>
                <a:schemeClr val="dk1"/>
              </a:solidFill>
            </a:endParaRPr>
          </a:p>
          <a:p>
            <a:pPr indent="0" lvl="0" marL="0" rtl="0" algn="l">
              <a:spcBef>
                <a:spcPts val="1200"/>
              </a:spcBef>
              <a:spcAft>
                <a:spcPts val="0"/>
              </a:spcAft>
              <a:buNone/>
            </a:pPr>
            <a:r>
              <a:t/>
            </a:r>
            <a:endParaRPr sz="8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445025"/>
            <a:ext cx="3640500" cy="398700"/>
          </a:xfrm>
          <a:prstGeom prst="rect">
            <a:avLst/>
          </a:prstGeom>
        </p:spPr>
        <p:txBody>
          <a:bodyPr anchorCtr="0" anchor="t" bIns="91425" lIns="91425" spcFirstLastPara="1" rIns="91425" wrap="square" tIns="91425">
            <a:noAutofit/>
          </a:bodyPr>
          <a:lstStyle/>
          <a:p>
            <a:pPr indent="457200" lvl="0" marL="457200" rtl="0" algn="l">
              <a:lnSpc>
                <a:spcPct val="115000"/>
              </a:lnSpc>
              <a:spcBef>
                <a:spcPts val="0"/>
              </a:spcBef>
              <a:spcAft>
                <a:spcPts val="0"/>
              </a:spcAft>
              <a:buClr>
                <a:schemeClr val="dk1"/>
              </a:buClr>
              <a:buSzPts val="990"/>
              <a:buFont typeface="Arial"/>
              <a:buNone/>
            </a:pPr>
            <a:r>
              <a:rPr b="1" lang="en" sz="1475">
                <a:latin typeface="Times New Roman"/>
                <a:ea typeface="Times New Roman"/>
                <a:cs typeface="Times New Roman"/>
                <a:sym typeface="Times New Roman"/>
              </a:rPr>
              <a:t>Inference overview  </a:t>
            </a:r>
            <a:endParaRPr b="1" sz="1475">
              <a:latin typeface="Times New Roman"/>
              <a:ea typeface="Times New Roman"/>
              <a:cs typeface="Times New Roman"/>
              <a:sym typeface="Times New Roman"/>
            </a:endParaRPr>
          </a:p>
          <a:p>
            <a:pPr indent="0" lvl="0" marL="0" rtl="0" algn="l">
              <a:spcBef>
                <a:spcPts val="0"/>
              </a:spcBef>
              <a:spcAft>
                <a:spcPts val="0"/>
              </a:spcAft>
              <a:buSzPts val="990"/>
              <a:buNone/>
            </a:pPr>
            <a:r>
              <a:t/>
            </a:r>
            <a:endParaRPr b="1" sz="3320">
              <a:latin typeface="Times New Roman"/>
              <a:ea typeface="Times New Roman"/>
              <a:cs typeface="Times New Roman"/>
              <a:sym typeface="Times New Roman"/>
            </a:endParaRPr>
          </a:p>
        </p:txBody>
      </p:sp>
      <p:sp>
        <p:nvSpPr>
          <p:cNvPr id="97" name="Google Shape;97;p19"/>
          <p:cNvSpPr txBox="1"/>
          <p:nvPr>
            <p:ph idx="1" type="body"/>
          </p:nvPr>
        </p:nvSpPr>
        <p:spPr>
          <a:xfrm>
            <a:off x="311700" y="946200"/>
            <a:ext cx="3927900" cy="39672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chemeClr val="dk1"/>
              </a:buClr>
              <a:buSzPts val="1100"/>
              <a:buChar char="●"/>
            </a:pPr>
            <a:r>
              <a:rPr lang="en" sz="1100">
                <a:solidFill>
                  <a:schemeClr val="dk1"/>
                </a:solidFill>
              </a:rPr>
              <a:t>SELF-RAG first checks if it needs to retrieve information by generating a special retrieval token.</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If retrieval is not needed, it simply continues generating the answer like a normal language model.</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If retrieval is needed, it evaluates each retrieved passage for relevance and factual support using critique tokens.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It then generates the next part of the answer based on the best-supported passage.</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In Figure 1, passage </a:t>
            </a:r>
            <a:r>
              <a:rPr b="1" lang="en" sz="1100">
                <a:solidFill>
                  <a:schemeClr val="dk1"/>
                </a:solidFill>
              </a:rPr>
              <a:t>d1</a:t>
            </a:r>
            <a:r>
              <a:rPr lang="en" sz="1100">
                <a:solidFill>
                  <a:schemeClr val="dk1"/>
                </a:solidFill>
              </a:rPr>
              <a:t> is chosen because </a:t>
            </a:r>
            <a:r>
              <a:rPr b="1" lang="en" sz="1100">
                <a:solidFill>
                  <a:schemeClr val="dk1"/>
                </a:solidFill>
              </a:rPr>
              <a:t>d2</a:t>
            </a:r>
            <a:r>
              <a:rPr lang="en" sz="1100">
                <a:solidFill>
                  <a:schemeClr val="dk1"/>
                </a:solidFill>
              </a:rPr>
              <a:t> is irrelevant and </a:t>
            </a:r>
            <a:r>
              <a:rPr b="1" lang="en" sz="1100">
                <a:solidFill>
                  <a:schemeClr val="dk1"/>
                </a:solidFill>
              </a:rPr>
              <a:t>d3</a:t>
            </a:r>
            <a:r>
              <a:rPr lang="en" sz="1100">
                <a:solidFill>
                  <a:schemeClr val="dk1"/>
                </a:solidFill>
              </a:rPr>
              <a:t> only partially supports the answer.</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Since </a:t>
            </a:r>
            <a:r>
              <a:rPr b="1" lang="en" sz="1100">
                <a:solidFill>
                  <a:schemeClr val="dk1"/>
                </a:solidFill>
              </a:rPr>
              <a:t>d1</a:t>
            </a:r>
            <a:r>
              <a:rPr lang="en" sz="1100">
                <a:solidFill>
                  <a:schemeClr val="dk1"/>
                </a:solidFill>
              </a:rPr>
              <a:t> is fully supported, Algorithm 1 selects it as the best choice.</a:t>
            </a:r>
            <a:endParaRPr sz="1100">
              <a:solidFill>
                <a:schemeClr val="dk1"/>
              </a:solidFill>
            </a:endParaRPr>
          </a:p>
          <a:p>
            <a:pPr indent="0" lvl="0" marL="0" rtl="0" algn="l">
              <a:spcBef>
                <a:spcPts val="1200"/>
              </a:spcBef>
              <a:spcAft>
                <a:spcPts val="1200"/>
              </a:spcAft>
              <a:buNone/>
            </a:pPr>
            <a:r>
              <a:t/>
            </a:r>
            <a:endParaRPr sz="1100"/>
          </a:p>
        </p:txBody>
      </p:sp>
      <p:sp>
        <p:nvSpPr>
          <p:cNvPr id="98" name="Google Shape;98;p19"/>
          <p:cNvSpPr txBox="1"/>
          <p:nvPr>
            <p:ph type="title"/>
          </p:nvPr>
        </p:nvSpPr>
        <p:spPr>
          <a:xfrm>
            <a:off x="5032950" y="445025"/>
            <a:ext cx="3799500" cy="572700"/>
          </a:xfrm>
          <a:prstGeom prst="rect">
            <a:avLst/>
          </a:prstGeom>
        </p:spPr>
        <p:txBody>
          <a:bodyPr anchorCtr="0" anchor="t" bIns="91425" lIns="91425" spcFirstLastPara="1" rIns="91425" wrap="square" tIns="91425">
            <a:noAutofit/>
          </a:bodyPr>
          <a:lstStyle/>
          <a:p>
            <a:pPr indent="0" lvl="0" marL="914400" rtl="0" algn="l">
              <a:lnSpc>
                <a:spcPct val="115000"/>
              </a:lnSpc>
              <a:spcBef>
                <a:spcPts val="0"/>
              </a:spcBef>
              <a:spcAft>
                <a:spcPts val="0"/>
              </a:spcAft>
              <a:buSzPts val="990"/>
              <a:buNone/>
            </a:pPr>
            <a:r>
              <a:rPr b="1" lang="en" sz="1475">
                <a:latin typeface="Times New Roman"/>
                <a:ea typeface="Times New Roman"/>
                <a:cs typeface="Times New Roman"/>
                <a:sym typeface="Times New Roman"/>
              </a:rPr>
              <a:t>Training overview  </a:t>
            </a:r>
            <a:endParaRPr b="1" sz="1475">
              <a:latin typeface="Times New Roman"/>
              <a:ea typeface="Times New Roman"/>
              <a:cs typeface="Times New Roman"/>
              <a:sym typeface="Times New Roman"/>
            </a:endParaRPr>
          </a:p>
          <a:p>
            <a:pPr indent="0" lvl="0" marL="0" rtl="0" algn="l">
              <a:spcBef>
                <a:spcPts val="0"/>
              </a:spcBef>
              <a:spcAft>
                <a:spcPts val="0"/>
              </a:spcAft>
              <a:buSzPts val="990"/>
              <a:buNone/>
            </a:pPr>
            <a:r>
              <a:t/>
            </a:r>
            <a:endParaRPr b="1" sz="3320">
              <a:latin typeface="Times New Roman"/>
              <a:ea typeface="Times New Roman"/>
              <a:cs typeface="Times New Roman"/>
              <a:sym typeface="Times New Roman"/>
            </a:endParaRPr>
          </a:p>
        </p:txBody>
      </p:sp>
      <p:sp>
        <p:nvSpPr>
          <p:cNvPr id="99" name="Google Shape;99;p19"/>
          <p:cNvSpPr txBox="1"/>
          <p:nvPr>
            <p:ph type="title"/>
          </p:nvPr>
        </p:nvSpPr>
        <p:spPr>
          <a:xfrm>
            <a:off x="4273750" y="980400"/>
            <a:ext cx="4650600" cy="37413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t/>
            </a:r>
            <a:endParaRPr sz="1000"/>
          </a:p>
          <a:p>
            <a:pPr indent="-292100" lvl="0" marL="457200" rtl="0" algn="l">
              <a:lnSpc>
                <a:spcPct val="115000"/>
              </a:lnSpc>
              <a:spcBef>
                <a:spcPts val="1200"/>
              </a:spcBef>
              <a:spcAft>
                <a:spcPts val="0"/>
              </a:spcAft>
              <a:buSzPts val="1000"/>
              <a:buChar char="●"/>
            </a:pPr>
            <a:r>
              <a:rPr lang="en" sz="1000"/>
              <a:t>SELF-RAG expands a model’s vocabulary by adding reflection tokens, which the model learns to generate just like regular tokens.</a:t>
            </a:r>
            <a:endParaRPr sz="1000"/>
          </a:p>
          <a:p>
            <a:pPr indent="-298450" lvl="0" marL="457200" rtl="0" algn="l">
              <a:lnSpc>
                <a:spcPct val="115000"/>
              </a:lnSpc>
              <a:spcBef>
                <a:spcPts val="0"/>
              </a:spcBef>
              <a:spcAft>
                <a:spcPts val="0"/>
              </a:spcAft>
              <a:buSzPts val="1100"/>
              <a:buChar char="●"/>
            </a:pPr>
            <a:r>
              <a:rPr lang="en" sz="1000"/>
              <a:t>The generator model </a:t>
            </a:r>
            <a:r>
              <a:rPr lang="en" sz="650"/>
              <a:t>M </a:t>
            </a:r>
            <a:r>
              <a:rPr lang="en" sz="1000"/>
              <a:t> is trained on data that includes retrieved passages and reflection tokens produced by a separate critic model C.</a:t>
            </a:r>
            <a:endParaRPr sz="1000"/>
          </a:p>
          <a:p>
            <a:pPr indent="-292100" lvl="0" marL="457200" rtl="0" algn="l">
              <a:lnSpc>
                <a:spcPct val="115000"/>
              </a:lnSpc>
              <a:spcBef>
                <a:spcPts val="0"/>
              </a:spcBef>
              <a:spcAft>
                <a:spcPts val="0"/>
              </a:spcAft>
              <a:buSzPts val="1000"/>
              <a:buChar char="●"/>
            </a:pPr>
            <a:r>
              <a:rPr lang="en" sz="1000"/>
              <a:t>The critic model evaluates passages and outputs, then inserts the correct reflection tokens into the training data.</a:t>
            </a:r>
            <a:endParaRPr sz="1000"/>
          </a:p>
          <a:p>
            <a:pPr indent="-292100" lvl="0" marL="457200" rtl="0" algn="l">
              <a:lnSpc>
                <a:spcPct val="115000"/>
              </a:lnSpc>
              <a:spcBef>
                <a:spcPts val="0"/>
              </a:spcBef>
              <a:spcAft>
                <a:spcPts val="0"/>
              </a:spcAft>
              <a:buSzPts val="1000"/>
              <a:buChar char="●"/>
            </a:pPr>
            <a:r>
              <a:rPr lang="en" sz="1000"/>
              <a:t>After this offline preparation, the generator model is trained normally so it can produce reflection tokens on its own during inference without needing the critic anymore.</a:t>
            </a:r>
            <a:endParaRPr sz="1000"/>
          </a:p>
          <a:p>
            <a:pPr indent="0" lvl="0" marL="0" rtl="0" algn="l">
              <a:spcBef>
                <a:spcPts val="1200"/>
              </a:spcBef>
              <a:spcAft>
                <a:spcPts val="0"/>
              </a:spcAft>
              <a:buSzPts val="990"/>
              <a:buNone/>
            </a:pPr>
            <a:r>
              <a:t/>
            </a:r>
            <a:endParaRPr sz="900">
              <a:latin typeface="Times New Roman"/>
              <a:ea typeface="Times New Roman"/>
              <a:cs typeface="Times New Roman"/>
              <a:sym typeface="Times New Roman"/>
            </a:endParaRPr>
          </a:p>
        </p:txBody>
      </p:sp>
      <p:pic>
        <p:nvPicPr>
          <p:cNvPr id="100" name="Google Shape;100;p19" title="Screenshot 2025-12-03 at 9.55.33 pm.png"/>
          <p:cNvPicPr preferRelativeResize="0"/>
          <p:nvPr/>
        </p:nvPicPr>
        <p:blipFill>
          <a:blip r:embed="rId3">
            <a:alphaModFix/>
          </a:blip>
          <a:stretch>
            <a:fillRect/>
          </a:stretch>
        </p:blipFill>
        <p:spPr>
          <a:xfrm>
            <a:off x="4670450" y="3046500"/>
            <a:ext cx="4199624" cy="14700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0"/>
          <p:cNvSpPr txBox="1"/>
          <p:nvPr>
            <p:ph type="title"/>
          </p:nvPr>
        </p:nvSpPr>
        <p:spPr>
          <a:xfrm>
            <a:off x="311700" y="445025"/>
            <a:ext cx="8520600" cy="412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lang="en" sz="1475">
                <a:latin typeface="Times New Roman"/>
                <a:ea typeface="Times New Roman"/>
                <a:cs typeface="Times New Roman"/>
                <a:sym typeface="Times New Roman"/>
              </a:rPr>
              <a:t>3.2 S</a:t>
            </a:r>
            <a:r>
              <a:rPr lang="en" sz="1340">
                <a:latin typeface="Times New Roman"/>
                <a:ea typeface="Times New Roman"/>
                <a:cs typeface="Times New Roman"/>
                <a:sym typeface="Times New Roman"/>
              </a:rPr>
              <a:t>ELF</a:t>
            </a:r>
            <a:r>
              <a:rPr lang="en" sz="1475">
                <a:latin typeface="Times New Roman"/>
                <a:ea typeface="Times New Roman"/>
                <a:cs typeface="Times New Roman"/>
                <a:sym typeface="Times New Roman"/>
              </a:rPr>
              <a:t>-R</a:t>
            </a:r>
            <a:r>
              <a:rPr lang="en" sz="1340">
                <a:latin typeface="Times New Roman"/>
                <a:ea typeface="Times New Roman"/>
                <a:cs typeface="Times New Roman"/>
                <a:sym typeface="Times New Roman"/>
              </a:rPr>
              <a:t>AG </a:t>
            </a:r>
            <a:r>
              <a:rPr lang="en" sz="1475">
                <a:latin typeface="Times New Roman"/>
                <a:ea typeface="Times New Roman"/>
                <a:cs typeface="Times New Roman"/>
                <a:sym typeface="Times New Roman"/>
              </a:rPr>
              <a:t>T</a:t>
            </a:r>
            <a:r>
              <a:rPr lang="en" sz="1340">
                <a:latin typeface="Times New Roman"/>
                <a:ea typeface="Times New Roman"/>
                <a:cs typeface="Times New Roman"/>
                <a:sym typeface="Times New Roman"/>
              </a:rPr>
              <a:t>RAINING</a:t>
            </a:r>
            <a:endParaRPr sz="1340">
              <a:latin typeface="Times New Roman"/>
              <a:ea typeface="Times New Roman"/>
              <a:cs typeface="Times New Roman"/>
              <a:sym typeface="Times New Roman"/>
            </a:endParaRPr>
          </a:p>
          <a:p>
            <a:pPr indent="0" lvl="0" marL="0" rtl="0" algn="l">
              <a:spcBef>
                <a:spcPts val="0"/>
              </a:spcBef>
              <a:spcAft>
                <a:spcPts val="0"/>
              </a:spcAft>
              <a:buSzPts val="990"/>
              <a:buNone/>
            </a:pPr>
            <a:r>
              <a:t/>
            </a:r>
            <a:endParaRPr sz="3320">
              <a:latin typeface="Times New Roman"/>
              <a:ea typeface="Times New Roman"/>
              <a:cs typeface="Times New Roman"/>
              <a:sym typeface="Times New Roman"/>
            </a:endParaRPr>
          </a:p>
        </p:txBody>
      </p:sp>
      <p:sp>
        <p:nvSpPr>
          <p:cNvPr id="106" name="Google Shape;106;p20"/>
          <p:cNvSpPr txBox="1"/>
          <p:nvPr>
            <p:ph idx="1" type="body"/>
          </p:nvPr>
        </p:nvSpPr>
        <p:spPr>
          <a:xfrm>
            <a:off x="311700" y="892550"/>
            <a:ext cx="8520600" cy="404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Here, we describe the supervised data collection and training of two models, the critic C(Section 3.2.1) and the generator M(Section 3.2.2).</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100">
                <a:solidFill>
                  <a:schemeClr val="dk1"/>
                </a:solidFill>
                <a:latin typeface="Times New Roman"/>
                <a:ea typeface="Times New Roman"/>
                <a:cs typeface="Times New Roman"/>
                <a:sym typeface="Times New Roman"/>
              </a:rPr>
              <a:t>3.2.1 TRAINING THE CRITIC MODEL : </a:t>
            </a:r>
            <a:endParaRPr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Manually labeling reflection tokens for every segment is expensive and time-consuming.</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Instead, the authors use </a:t>
            </a:r>
            <a:r>
              <a:rPr b="1" lang="en" sz="1100">
                <a:solidFill>
                  <a:schemeClr val="dk1"/>
                </a:solidFill>
              </a:rPr>
              <a:t>GPT-4</a:t>
            </a:r>
            <a:r>
              <a:rPr lang="en" sz="1100">
                <a:solidFill>
                  <a:schemeClr val="dk1"/>
                </a:solidFill>
              </a:rPr>
              <a:t> to automatically generate reflection tokens as feedback.</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But relying directly on GPT-4 is costly and reduces reproducibility, so they only use it once to create training data.</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They prompt GPT-4 with special instructions for each type of reflection token (e.g., whether retrieval is needed).</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GPT-4’s judgments closely match human evaluations, so they are reliable.</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They generate </a:t>
            </a:r>
            <a:r>
              <a:rPr b="1" lang="en" sz="1100">
                <a:solidFill>
                  <a:schemeClr val="dk1"/>
                </a:solidFill>
              </a:rPr>
              <a:t>4k–20k examples</a:t>
            </a:r>
            <a:r>
              <a:rPr lang="en" sz="1100">
                <a:solidFill>
                  <a:schemeClr val="dk1"/>
                </a:solidFill>
              </a:rPr>
              <a:t> for each reflection token type and combine them into the training dataset.</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This dataset is then used to train the critic model </a:t>
            </a:r>
            <a:r>
              <a:rPr b="1" lang="en" sz="1100">
                <a:solidFill>
                  <a:schemeClr val="dk1"/>
                </a:solidFill>
              </a:rPr>
              <a:t>C</a:t>
            </a:r>
            <a:r>
              <a:rPr lang="en" sz="1100">
                <a:solidFill>
                  <a:schemeClr val="dk1"/>
                </a:solidFill>
              </a:rPr>
              <a:t>, which learns to produce reflection tokens on its own</a:t>
            </a:r>
            <a:endParaRPr sz="1100">
              <a:solidFill>
                <a:schemeClr val="dk1"/>
              </a:solidFill>
            </a:endParaRPr>
          </a:p>
          <a:p>
            <a:pPr indent="0" lvl="0" marL="0" rtl="0" algn="l">
              <a:spcBef>
                <a:spcPts val="1200"/>
              </a:spcBef>
              <a:spcAft>
                <a:spcPts val="0"/>
              </a:spcAft>
              <a:buNone/>
            </a:pPr>
            <a:r>
              <a:rPr lang="en" sz="1100">
                <a:solidFill>
                  <a:schemeClr val="dk1"/>
                </a:solidFill>
              </a:rPr>
              <a:t>Prompting-based retrieval methods are not suitable because SELF-RAG needs detailed, fine-grained self-reflection, which makes prompts very long, costly, and slow. In early tests, models like GPT-3 and Llama2-chat struggled to follow complex reflection instructions, producing wrong formats and inaccurate reflections. SELF-RAG relies on token-level probability scores for reflection tokens, which many black-box APIs (like ChatGPT/GPT-4) don’t provide, making prompting-based methods impractical.</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1200"/>
              </a:spcAft>
              <a:buNone/>
            </a:pPr>
            <a:r>
              <a:t/>
            </a:r>
            <a:endParaRPr sz="11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lang="en" sz="1375"/>
              <a:t>Critic learning : </a:t>
            </a:r>
            <a:endParaRPr sz="3220"/>
          </a:p>
        </p:txBody>
      </p:sp>
      <p:sp>
        <p:nvSpPr>
          <p:cNvPr id="112" name="Google Shape;112;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spcBef>
                <a:spcPts val="1200"/>
              </a:spcBef>
              <a:spcAft>
                <a:spcPts val="0"/>
              </a:spcAft>
              <a:buClr>
                <a:schemeClr val="dk1"/>
              </a:buClr>
              <a:buSzPts val="1200"/>
              <a:buChar char="●"/>
            </a:pPr>
            <a:r>
              <a:rPr lang="en" sz="1200">
                <a:solidFill>
                  <a:schemeClr val="dk1"/>
                </a:solidFill>
              </a:rPr>
              <a:t>The collected dataset (</a:t>
            </a:r>
            <a:r>
              <a:rPr b="1" lang="en" sz="1200">
                <a:solidFill>
                  <a:schemeClr val="dk1"/>
                </a:solidFill>
              </a:rPr>
              <a:t>Dcritic</a:t>
            </a:r>
            <a:r>
              <a:rPr lang="en" sz="1200">
                <a:solidFill>
                  <a:schemeClr val="dk1"/>
                </a:solidFill>
              </a:rPr>
              <a:t>) is used to train the critic model using standard language-model training.</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They initialize the critic with a pre-trained Llama-2 7B model, the same base model used for the generator.</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After training, the critic matches GPT-4’s reflection-token predictions with </a:t>
            </a:r>
            <a:r>
              <a:rPr b="1" lang="en" sz="1200">
                <a:solidFill>
                  <a:schemeClr val="dk1"/>
                </a:solidFill>
              </a:rPr>
              <a:t>over 90% accuracy</a:t>
            </a:r>
            <a:r>
              <a:rPr lang="en" sz="1200">
                <a:solidFill>
                  <a:schemeClr val="dk1"/>
                </a:solidFill>
              </a:rPr>
              <a:t>.</a:t>
            </a:r>
            <a:endParaRPr sz="1200">
              <a:solidFill>
                <a:schemeClr val="dk1"/>
              </a:solidFill>
            </a:endParaRPr>
          </a:p>
          <a:p>
            <a:pPr indent="0" lvl="0" marL="0" rtl="0" algn="l">
              <a:spcBef>
                <a:spcPts val="1200"/>
              </a:spcBef>
              <a:spcAft>
                <a:spcPts val="0"/>
              </a:spcAft>
              <a:buNone/>
            </a:pPr>
            <a:r>
              <a:t/>
            </a:r>
            <a:endParaRPr sz="1900"/>
          </a:p>
          <a:p>
            <a:pPr indent="0" lvl="0" marL="0" rtl="0" algn="l">
              <a:spcBef>
                <a:spcPts val="1200"/>
              </a:spcBef>
              <a:spcAft>
                <a:spcPts val="1200"/>
              </a:spcAft>
              <a:buNone/>
            </a:pPr>
            <a:r>
              <a:t/>
            </a:r>
            <a:endParaRPr sz="1900"/>
          </a:p>
        </p:txBody>
      </p:sp>
      <p:pic>
        <p:nvPicPr>
          <p:cNvPr id="113" name="Google Shape;113;p21" title="Screenshot 2025-12-03 at 5.24.12 pm.png"/>
          <p:cNvPicPr preferRelativeResize="0"/>
          <p:nvPr/>
        </p:nvPicPr>
        <p:blipFill>
          <a:blip r:embed="rId3">
            <a:alphaModFix/>
          </a:blip>
          <a:stretch>
            <a:fillRect/>
          </a:stretch>
        </p:blipFill>
        <p:spPr>
          <a:xfrm>
            <a:off x="1014200" y="2115325"/>
            <a:ext cx="5054030" cy="269825"/>
          </a:xfrm>
          <a:prstGeom prst="rect">
            <a:avLst/>
          </a:prstGeom>
          <a:noFill/>
          <a:ln>
            <a:noFill/>
          </a:ln>
        </p:spPr>
      </p:pic>
      <p:pic>
        <p:nvPicPr>
          <p:cNvPr id="114" name="Google Shape;114;p21" title="Screenshot 2025-12-03 at 5.24.39 pm.png"/>
          <p:cNvPicPr preferRelativeResize="0"/>
          <p:nvPr/>
        </p:nvPicPr>
        <p:blipFill>
          <a:blip r:embed="rId4">
            <a:alphaModFix/>
          </a:blip>
          <a:stretch>
            <a:fillRect/>
          </a:stretch>
        </p:blipFill>
        <p:spPr>
          <a:xfrm>
            <a:off x="1117575" y="2571750"/>
            <a:ext cx="5671499" cy="17396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2"/>
          <p:cNvSpPr txBox="1"/>
          <p:nvPr>
            <p:ph type="title"/>
          </p:nvPr>
        </p:nvSpPr>
        <p:spPr>
          <a:xfrm>
            <a:off x="311700" y="445025"/>
            <a:ext cx="8520600" cy="330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b="1" lang="en" sz="1175"/>
              <a:t>3.2.2 T</a:t>
            </a:r>
            <a:r>
              <a:rPr b="1" lang="en" sz="1040"/>
              <a:t>RAINING THE </a:t>
            </a:r>
            <a:r>
              <a:rPr b="1" lang="en" sz="1175"/>
              <a:t>G</a:t>
            </a:r>
            <a:r>
              <a:rPr b="1" lang="en" sz="1040"/>
              <a:t>ENERATOR </a:t>
            </a:r>
            <a:r>
              <a:rPr b="1" lang="en" sz="1175"/>
              <a:t>M</a:t>
            </a:r>
            <a:r>
              <a:rPr b="1" lang="en" sz="1040"/>
              <a:t>ODEL : </a:t>
            </a:r>
            <a:endParaRPr b="1" sz="1040"/>
          </a:p>
          <a:p>
            <a:pPr indent="0" lvl="0" marL="0" rtl="0" algn="l">
              <a:spcBef>
                <a:spcPts val="0"/>
              </a:spcBef>
              <a:spcAft>
                <a:spcPts val="0"/>
              </a:spcAft>
              <a:buSzPts val="990"/>
              <a:buNone/>
            </a:pPr>
            <a:r>
              <a:t/>
            </a:r>
            <a:endParaRPr b="1" sz="3020"/>
          </a:p>
        </p:txBody>
      </p:sp>
      <p:sp>
        <p:nvSpPr>
          <p:cNvPr id="120" name="Google Shape;120;p22"/>
          <p:cNvSpPr txBox="1"/>
          <p:nvPr>
            <p:ph idx="1" type="body"/>
          </p:nvPr>
        </p:nvSpPr>
        <p:spPr>
          <a:xfrm>
            <a:off x="311700" y="824150"/>
            <a:ext cx="8520600" cy="400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950">
                <a:solidFill>
                  <a:schemeClr val="dk1"/>
                </a:solidFill>
              </a:rPr>
              <a:t>Data collection for generator : </a:t>
            </a:r>
            <a:endParaRPr b="1" sz="950">
              <a:solidFill>
                <a:schemeClr val="dk1"/>
              </a:solidFill>
            </a:endParaRPr>
          </a:p>
          <a:p>
            <a:pPr indent="0" lvl="0" marL="0" rtl="0" algn="l">
              <a:spcBef>
                <a:spcPts val="0"/>
              </a:spcBef>
              <a:spcAft>
                <a:spcPts val="0"/>
              </a:spcAft>
              <a:buNone/>
            </a:pPr>
            <a:r>
              <a:t/>
            </a:r>
            <a:endParaRPr b="1" sz="950">
              <a:solidFill>
                <a:schemeClr val="dk1"/>
              </a:solidFill>
            </a:endParaRPr>
          </a:p>
          <a:p>
            <a:pPr indent="0" lvl="0" marL="0" rtl="0" algn="l">
              <a:spcBef>
                <a:spcPts val="0"/>
              </a:spcBef>
              <a:spcAft>
                <a:spcPts val="0"/>
              </a:spcAft>
              <a:buNone/>
            </a:pPr>
            <a:r>
              <a:rPr lang="en" sz="950">
                <a:solidFill>
                  <a:schemeClr val="dk1"/>
                </a:solidFill>
              </a:rPr>
              <a:t>For each input–output pair, the system uses the critic model to check every sentence and decide whether retrieval is needed. If retrieval is required, the retriever pulls the top passages, and the critic labels each one for relevance (ISrel) and factual support (ISsup). These reflection tokens are added to the output, and at the end of the answer the critic also adds a usefulness score (ISUSE). This creates training data that closely matches how SELF-RAG behaves during inference.</a:t>
            </a:r>
            <a:endParaRPr sz="950">
              <a:solidFill>
                <a:schemeClr val="dk1"/>
              </a:solidFill>
            </a:endParaRPr>
          </a:p>
          <a:p>
            <a:pPr indent="0" lvl="0" marL="0" rtl="0" algn="l">
              <a:spcBef>
                <a:spcPts val="0"/>
              </a:spcBef>
              <a:spcAft>
                <a:spcPts val="0"/>
              </a:spcAft>
              <a:buNone/>
            </a:pPr>
            <a:r>
              <a:t/>
            </a:r>
            <a:endParaRPr sz="950">
              <a:solidFill>
                <a:schemeClr val="dk1"/>
              </a:solidFill>
            </a:endParaRPr>
          </a:p>
          <a:p>
            <a:pPr indent="0" lvl="0" marL="0" rtl="0" algn="l">
              <a:spcBef>
                <a:spcPts val="0"/>
              </a:spcBef>
              <a:spcAft>
                <a:spcPts val="0"/>
              </a:spcAft>
              <a:buNone/>
            </a:pPr>
            <a:r>
              <a:rPr b="1" lang="en" sz="950">
                <a:solidFill>
                  <a:schemeClr val="dk1"/>
                </a:solidFill>
              </a:rPr>
              <a:t>Generator learning : </a:t>
            </a:r>
            <a:endParaRPr b="1" sz="950">
              <a:solidFill>
                <a:schemeClr val="dk1"/>
              </a:solidFill>
            </a:endParaRPr>
          </a:p>
          <a:p>
            <a:pPr indent="0" lvl="0" marL="0" rtl="0" algn="l">
              <a:spcBef>
                <a:spcPts val="0"/>
              </a:spcBef>
              <a:spcAft>
                <a:spcPts val="0"/>
              </a:spcAft>
              <a:buNone/>
            </a:pPr>
            <a:r>
              <a:t/>
            </a:r>
            <a:endParaRPr b="1" sz="950">
              <a:solidFill>
                <a:schemeClr val="dk1"/>
              </a:solidFill>
            </a:endParaRPr>
          </a:p>
          <a:p>
            <a:pPr indent="0" lvl="0" marL="0" rtl="0" algn="l">
              <a:spcBef>
                <a:spcPts val="0"/>
              </a:spcBef>
              <a:spcAft>
                <a:spcPts val="0"/>
              </a:spcAft>
              <a:buNone/>
            </a:pPr>
            <a:r>
              <a:rPr lang="en" sz="950">
                <a:solidFill>
                  <a:schemeClr val="dk1"/>
                </a:solidFill>
              </a:rPr>
              <a:t>We train the generator model Mby training on the curated corpus augmented with reflection tokens D</a:t>
            </a:r>
            <a:r>
              <a:rPr lang="en" sz="750">
                <a:solidFill>
                  <a:schemeClr val="dk1"/>
                </a:solidFill>
              </a:rPr>
              <a:t>gen </a:t>
            </a:r>
            <a:r>
              <a:rPr lang="en" sz="950">
                <a:solidFill>
                  <a:schemeClr val="dk1"/>
                </a:solidFill>
              </a:rPr>
              <a:t>using the standard next token objective:</a:t>
            </a:r>
            <a:endParaRPr sz="950">
              <a:solidFill>
                <a:schemeClr val="dk1"/>
              </a:solidFill>
            </a:endParaRPr>
          </a:p>
          <a:p>
            <a:pPr indent="0" lvl="0" marL="0" rtl="0" algn="l">
              <a:spcBef>
                <a:spcPts val="0"/>
              </a:spcBef>
              <a:spcAft>
                <a:spcPts val="0"/>
              </a:spcAft>
              <a:buNone/>
            </a:pPr>
            <a:r>
              <a:t/>
            </a:r>
            <a:endParaRPr b="1" sz="950">
              <a:solidFill>
                <a:schemeClr val="dk1"/>
              </a:solidFill>
            </a:endParaRPr>
          </a:p>
          <a:p>
            <a:pPr indent="0" lvl="0" marL="0" rtl="0" algn="l">
              <a:spcBef>
                <a:spcPts val="0"/>
              </a:spcBef>
              <a:spcAft>
                <a:spcPts val="0"/>
              </a:spcAft>
              <a:buNone/>
            </a:pPr>
            <a:r>
              <a:t/>
            </a:r>
            <a:endParaRPr b="1" sz="950">
              <a:solidFill>
                <a:schemeClr val="dk1"/>
              </a:solidFill>
            </a:endParaRPr>
          </a:p>
          <a:p>
            <a:pPr indent="0" lvl="0" marL="0" rtl="0" algn="l">
              <a:spcBef>
                <a:spcPts val="0"/>
              </a:spcBef>
              <a:spcAft>
                <a:spcPts val="0"/>
              </a:spcAft>
              <a:buNone/>
            </a:pPr>
            <a:r>
              <a:t/>
            </a:r>
            <a:endParaRPr b="1" sz="950">
              <a:solidFill>
                <a:schemeClr val="dk1"/>
              </a:solidFill>
            </a:endParaRPr>
          </a:p>
          <a:p>
            <a:pPr indent="0" lvl="0" marL="0" rtl="0" algn="l">
              <a:spcBef>
                <a:spcPts val="0"/>
              </a:spcBef>
              <a:spcAft>
                <a:spcPts val="0"/>
              </a:spcAft>
              <a:buNone/>
            </a:pPr>
            <a:r>
              <a:t/>
            </a:r>
            <a:endParaRPr b="1" sz="950">
              <a:solidFill>
                <a:schemeClr val="dk1"/>
              </a:solidFill>
            </a:endParaRPr>
          </a:p>
          <a:p>
            <a:pPr indent="0" lvl="0" marL="0" rtl="0" algn="l">
              <a:spcBef>
                <a:spcPts val="0"/>
              </a:spcBef>
              <a:spcAft>
                <a:spcPts val="0"/>
              </a:spcAft>
              <a:buNone/>
            </a:pPr>
            <a:r>
              <a:rPr lang="en" sz="950">
                <a:solidFill>
                  <a:schemeClr val="dk1"/>
                </a:solidFill>
              </a:rPr>
              <a:t>The generator model is then trained on this augmented dataset using a standard next-token prediction objective. It learns not only to generate the answer but also to produce the reflection tokens. Retrieved passage text is masked out during training, and the model’s vocabulary is expanded to include the new reflection tokens.</a:t>
            </a:r>
            <a:endParaRPr sz="950">
              <a:solidFill>
                <a:schemeClr val="dk1"/>
              </a:solidFill>
            </a:endParaRPr>
          </a:p>
          <a:p>
            <a:pPr indent="0" lvl="0" marL="0" rtl="0" algn="l">
              <a:spcBef>
                <a:spcPts val="0"/>
              </a:spcBef>
              <a:spcAft>
                <a:spcPts val="0"/>
              </a:spcAft>
              <a:buNone/>
            </a:pPr>
            <a:r>
              <a:t/>
            </a:r>
            <a:endParaRPr sz="950">
              <a:solidFill>
                <a:schemeClr val="dk1"/>
              </a:solidFill>
            </a:endParaRPr>
          </a:p>
          <a:p>
            <a:pPr indent="0" lvl="0" marL="0" rtl="0" algn="l">
              <a:spcBef>
                <a:spcPts val="0"/>
              </a:spcBef>
              <a:spcAft>
                <a:spcPts val="0"/>
              </a:spcAft>
              <a:buNone/>
            </a:pPr>
            <a:r>
              <a:rPr b="1" lang="en" sz="950">
                <a:solidFill>
                  <a:schemeClr val="dk1"/>
                </a:solidFill>
              </a:rPr>
              <a:t>Connections to prior work on learning with critique : </a:t>
            </a:r>
            <a:endParaRPr b="1" sz="950">
              <a:solidFill>
                <a:schemeClr val="dk1"/>
              </a:solidFill>
            </a:endParaRPr>
          </a:p>
          <a:p>
            <a:pPr indent="0" lvl="0" marL="0" rtl="0" algn="l">
              <a:spcBef>
                <a:spcPts val="0"/>
              </a:spcBef>
              <a:spcAft>
                <a:spcPts val="0"/>
              </a:spcAft>
              <a:buNone/>
            </a:pPr>
            <a:r>
              <a:t/>
            </a:r>
            <a:endParaRPr b="1" sz="950">
              <a:solidFill>
                <a:schemeClr val="dk1"/>
              </a:solidFill>
            </a:endParaRPr>
          </a:p>
          <a:p>
            <a:pPr indent="0" lvl="0" marL="0" rtl="0" algn="l">
              <a:spcBef>
                <a:spcPts val="0"/>
              </a:spcBef>
              <a:spcAft>
                <a:spcPts val="0"/>
              </a:spcAft>
              <a:buNone/>
            </a:pPr>
            <a:r>
              <a:rPr lang="en" sz="950">
                <a:solidFill>
                  <a:schemeClr val="dk1"/>
                </a:solidFill>
              </a:rPr>
              <a:t>Unlike RLHF methods that require expensive reward models and PPO, SELF-RAG adds critique signals offline and trains the model with a simple language modeling objective. This makes training cheaper and more efficient. By learning to generate reflection tokens after each segment, SELF-RAG can later enforce soft or hard constraints to improve factuality during inference.</a:t>
            </a:r>
            <a:endParaRPr sz="950">
              <a:solidFill>
                <a:schemeClr val="dk1"/>
              </a:solidFill>
            </a:endParaRPr>
          </a:p>
        </p:txBody>
      </p:sp>
      <p:pic>
        <p:nvPicPr>
          <p:cNvPr id="121" name="Google Shape;121;p22" title="Screenshot 2025-12-03 at 5.29.42 pm.png"/>
          <p:cNvPicPr preferRelativeResize="0"/>
          <p:nvPr/>
        </p:nvPicPr>
        <p:blipFill>
          <a:blip r:embed="rId3">
            <a:alphaModFix/>
          </a:blip>
          <a:stretch>
            <a:fillRect/>
          </a:stretch>
        </p:blipFill>
        <p:spPr>
          <a:xfrm>
            <a:off x="1118525" y="2659100"/>
            <a:ext cx="5431601" cy="3303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3"/>
          <p:cNvSpPr txBox="1"/>
          <p:nvPr>
            <p:ph type="title"/>
          </p:nvPr>
        </p:nvSpPr>
        <p:spPr>
          <a:xfrm>
            <a:off x="311700" y="445025"/>
            <a:ext cx="8520600" cy="364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lang="en" sz="1475"/>
              <a:t>3.3 S</a:t>
            </a:r>
            <a:r>
              <a:rPr lang="en" sz="1340"/>
              <a:t>ELF</a:t>
            </a:r>
            <a:r>
              <a:rPr lang="en" sz="1475"/>
              <a:t>-R</a:t>
            </a:r>
            <a:r>
              <a:rPr lang="en" sz="1340"/>
              <a:t>AG </a:t>
            </a:r>
            <a:r>
              <a:rPr lang="en" sz="1475"/>
              <a:t>I</a:t>
            </a:r>
            <a:r>
              <a:rPr lang="en" sz="1340"/>
              <a:t>NFERENCE</a:t>
            </a:r>
            <a:endParaRPr sz="1340"/>
          </a:p>
          <a:p>
            <a:pPr indent="0" lvl="0" marL="0" rtl="0" algn="l">
              <a:spcBef>
                <a:spcPts val="0"/>
              </a:spcBef>
              <a:spcAft>
                <a:spcPts val="0"/>
              </a:spcAft>
              <a:buSzPts val="990"/>
              <a:buNone/>
            </a:pPr>
            <a:r>
              <a:t/>
            </a:r>
            <a:endParaRPr sz="3320"/>
          </a:p>
        </p:txBody>
      </p:sp>
      <p:sp>
        <p:nvSpPr>
          <p:cNvPr id="127" name="Google Shape;127;p23"/>
          <p:cNvSpPr txBox="1"/>
          <p:nvPr>
            <p:ph idx="1" type="body"/>
          </p:nvPr>
        </p:nvSpPr>
        <p:spPr>
          <a:xfrm>
            <a:off x="257000" y="809525"/>
            <a:ext cx="8520600" cy="39876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b="1" lang="en" sz="3600">
                <a:solidFill>
                  <a:schemeClr val="dk1"/>
                </a:solidFill>
              </a:rPr>
              <a:t>Why Reflection Tokens Matter ? </a:t>
            </a:r>
            <a:endParaRPr b="1" sz="3600">
              <a:solidFill>
                <a:schemeClr val="dk1"/>
              </a:solidFill>
            </a:endParaRPr>
          </a:p>
          <a:p>
            <a:pPr indent="0" lvl="0" marL="0" rtl="0" algn="l">
              <a:spcBef>
                <a:spcPts val="1200"/>
              </a:spcBef>
              <a:spcAft>
                <a:spcPts val="0"/>
              </a:spcAft>
              <a:buNone/>
            </a:pPr>
            <a:r>
              <a:rPr lang="en" sz="3600">
                <a:solidFill>
                  <a:schemeClr val="dk1"/>
                </a:solidFill>
              </a:rPr>
              <a:t>SELF-RAG creates reflection tokens to judge its own answers, which gives you control during inference. If the task needs strong factual accuracy, the model retrieves more passages. If the task is creative (like writing a story), it retrieves less. This allows SELF-RAG to flexibly adjust its behavior depending on what the task needs.</a:t>
            </a:r>
            <a:endParaRPr sz="3600">
              <a:solidFill>
                <a:schemeClr val="dk1"/>
              </a:solidFill>
            </a:endParaRPr>
          </a:p>
          <a:p>
            <a:pPr indent="0" lvl="0" marL="0" rtl="0" algn="l">
              <a:spcBef>
                <a:spcPts val="1200"/>
              </a:spcBef>
              <a:spcAft>
                <a:spcPts val="0"/>
              </a:spcAft>
              <a:buNone/>
            </a:pPr>
            <a:r>
              <a:rPr b="1" lang="en" sz="3600">
                <a:solidFill>
                  <a:schemeClr val="dk1"/>
                </a:solidFill>
              </a:rPr>
              <a:t>Adaptive retrieval with threshold : </a:t>
            </a:r>
            <a:r>
              <a:rPr lang="en" sz="3600">
                <a:solidFill>
                  <a:schemeClr val="dk1"/>
                </a:solidFill>
              </a:rPr>
              <a:t>SELF-RAG dynamically decides when to retrieve text passages by predicting </a:t>
            </a:r>
            <a:r>
              <a:rPr lang="en" sz="3600">
                <a:solidFill>
                  <a:srgbClr val="A13904"/>
                </a:solidFill>
              </a:rPr>
              <a:t>Retrieve </a:t>
            </a:r>
            <a:r>
              <a:rPr lang="en" sz="3600">
                <a:solidFill>
                  <a:schemeClr val="dk1"/>
                </a:solidFill>
              </a:rPr>
              <a:t>. Alternatively, our framework allows a threshold to be set. Specifically, if the probability of generating the </a:t>
            </a:r>
            <a:r>
              <a:rPr lang="en" sz="3600">
                <a:solidFill>
                  <a:srgbClr val="A13904"/>
                </a:solidFill>
              </a:rPr>
              <a:t>Retrieve </a:t>
            </a:r>
            <a:r>
              <a:rPr lang="en" sz="3600">
                <a:solidFill>
                  <a:schemeClr val="dk1"/>
                </a:solidFill>
              </a:rPr>
              <a:t>=Yes token normalized over all output tokens in </a:t>
            </a:r>
            <a:r>
              <a:rPr lang="en" sz="3600">
                <a:solidFill>
                  <a:srgbClr val="A13904"/>
                </a:solidFill>
              </a:rPr>
              <a:t>Retrieve </a:t>
            </a:r>
            <a:r>
              <a:rPr lang="en" sz="3600">
                <a:solidFill>
                  <a:schemeClr val="dk1"/>
                </a:solidFill>
              </a:rPr>
              <a:t>designated threshold, we trigger retrieval (details in Appendix Section A.4). Tree-decoding with critique tokens : At each segment step t, when retrieval is required, based either on hard or soft conditions, Rretrieves Kpassages, and the generator Mprocesses each passage in parallel and outputs Kdifferent continuation candidates. We conduct a segment-level beam search (with the beam size=B) to obtain the top-Bsegment continuations at each timestamp t, and return the best sequence at the end of generation. The score of each segment yt with respect to passage dis updated with a critic score Sthat is the linear weighted sum of the normalized probability of each </a:t>
            </a:r>
            <a:r>
              <a:rPr lang="en" sz="3600">
                <a:solidFill>
                  <a:srgbClr val="273887"/>
                </a:solidFill>
              </a:rPr>
              <a:t>Critique </a:t>
            </a:r>
            <a:r>
              <a:rPr lang="en" sz="3600">
                <a:solidFill>
                  <a:schemeClr val="dk1"/>
                </a:solidFill>
              </a:rPr>
              <a:t>token type. For each critique token group G(e.g., </a:t>
            </a:r>
            <a:r>
              <a:rPr lang="en" sz="3600">
                <a:solidFill>
                  <a:srgbClr val="273887"/>
                </a:solidFill>
              </a:rPr>
              <a:t>ISREL </a:t>
            </a:r>
            <a:r>
              <a:rPr lang="en" sz="3600">
                <a:solidFill>
                  <a:schemeClr val="dk1"/>
                </a:solidFill>
              </a:rPr>
              <a:t>), we denote its score at timestamp tas sG t , and we compute a segment score as follows: </a:t>
            </a:r>
            <a:endParaRPr sz="3600">
              <a:solidFill>
                <a:schemeClr val="dk1"/>
              </a:solidFill>
            </a:endParaRPr>
          </a:p>
          <a:p>
            <a:pPr indent="0" lvl="0" marL="0" rtl="0" algn="l">
              <a:spcBef>
                <a:spcPts val="0"/>
              </a:spcBef>
              <a:spcAft>
                <a:spcPts val="0"/>
              </a:spcAft>
              <a:buNone/>
            </a:pPr>
            <a:r>
              <a:t/>
            </a:r>
            <a:endParaRPr sz="3600">
              <a:solidFill>
                <a:schemeClr val="dk1"/>
              </a:solidFill>
            </a:endParaRPr>
          </a:p>
          <a:p>
            <a:pPr indent="0" lvl="0" marL="0" rtl="0" algn="l">
              <a:spcBef>
                <a:spcPts val="0"/>
              </a:spcBef>
              <a:spcAft>
                <a:spcPts val="0"/>
              </a:spcAft>
              <a:buNone/>
            </a:pPr>
            <a:r>
              <a:t/>
            </a:r>
            <a:endParaRPr sz="3600">
              <a:solidFill>
                <a:schemeClr val="dk1"/>
              </a:solidFill>
            </a:endParaRPr>
          </a:p>
          <a:p>
            <a:pPr indent="0" lvl="0" marL="0" rtl="0" algn="l">
              <a:spcBef>
                <a:spcPts val="0"/>
              </a:spcBef>
              <a:spcAft>
                <a:spcPts val="0"/>
              </a:spcAft>
              <a:buNone/>
            </a:pPr>
            <a:r>
              <a:t/>
            </a:r>
            <a:endParaRPr sz="3600">
              <a:solidFill>
                <a:schemeClr val="dk1"/>
              </a:solidFill>
            </a:endParaRPr>
          </a:p>
          <a:p>
            <a:pPr indent="0" lvl="0" marL="0" rtl="0" algn="l">
              <a:spcBef>
                <a:spcPts val="0"/>
              </a:spcBef>
              <a:spcAft>
                <a:spcPts val="0"/>
              </a:spcAft>
              <a:buNone/>
            </a:pPr>
            <a:r>
              <a:t/>
            </a:r>
            <a:endParaRPr sz="3600">
              <a:solidFill>
                <a:schemeClr val="dk1"/>
              </a:solidFill>
            </a:endParaRPr>
          </a:p>
          <a:p>
            <a:pPr indent="0" lvl="0" marL="0" rtl="0" algn="l">
              <a:spcBef>
                <a:spcPts val="0"/>
              </a:spcBef>
              <a:spcAft>
                <a:spcPts val="0"/>
              </a:spcAft>
              <a:buNone/>
            </a:pPr>
            <a:r>
              <a:t/>
            </a:r>
            <a:endParaRPr sz="750">
              <a:solidFill>
                <a:schemeClr val="dk1"/>
              </a:solidFill>
            </a:endParaRPr>
          </a:p>
          <a:p>
            <a:pPr indent="0" lvl="0" marL="0" rtl="0" algn="l">
              <a:spcBef>
                <a:spcPts val="0"/>
              </a:spcBef>
              <a:spcAft>
                <a:spcPts val="0"/>
              </a:spcAft>
              <a:buNone/>
            </a:pPr>
            <a:r>
              <a:t/>
            </a:r>
            <a:endParaRPr sz="750">
              <a:solidFill>
                <a:schemeClr val="dk1"/>
              </a:solidFill>
            </a:endParaRPr>
          </a:p>
          <a:p>
            <a:pPr indent="0" lvl="0" marL="0" rtl="0" algn="l">
              <a:spcBef>
                <a:spcPts val="0"/>
              </a:spcBef>
              <a:spcAft>
                <a:spcPts val="0"/>
              </a:spcAft>
              <a:buNone/>
            </a:pPr>
            <a:r>
              <a:t/>
            </a:r>
            <a:endParaRPr sz="750">
              <a:solidFill>
                <a:schemeClr val="dk1"/>
              </a:solidFill>
            </a:endParaRPr>
          </a:p>
          <a:p>
            <a:pPr indent="0" lvl="0" marL="0" rtl="0" algn="l">
              <a:spcBef>
                <a:spcPts val="0"/>
              </a:spcBef>
              <a:spcAft>
                <a:spcPts val="0"/>
              </a:spcAft>
              <a:buNone/>
            </a:pPr>
            <a:r>
              <a:t/>
            </a:r>
            <a:endParaRPr sz="750">
              <a:solidFill>
                <a:schemeClr val="dk1"/>
              </a:solidFill>
            </a:endParaRPr>
          </a:p>
          <a:p>
            <a:pPr indent="0" lvl="0" marL="0" rtl="0" algn="l">
              <a:spcBef>
                <a:spcPts val="0"/>
              </a:spcBef>
              <a:spcAft>
                <a:spcPts val="0"/>
              </a:spcAft>
              <a:buNone/>
            </a:pPr>
            <a:r>
              <a:t/>
            </a:r>
            <a:endParaRPr sz="750">
              <a:solidFill>
                <a:schemeClr val="dk1"/>
              </a:solidFill>
            </a:endParaRPr>
          </a:p>
          <a:p>
            <a:pPr indent="0" lvl="0" marL="0" rtl="0" algn="l">
              <a:spcBef>
                <a:spcPts val="0"/>
              </a:spcBef>
              <a:spcAft>
                <a:spcPts val="0"/>
              </a:spcAft>
              <a:buNone/>
            </a:pPr>
            <a:r>
              <a:t/>
            </a:r>
            <a:endParaRPr sz="750">
              <a:solidFill>
                <a:schemeClr val="dk1"/>
              </a:solidFill>
            </a:endParaRPr>
          </a:p>
          <a:p>
            <a:pPr indent="0" lvl="0" marL="0" rtl="0" algn="l">
              <a:spcBef>
                <a:spcPts val="0"/>
              </a:spcBef>
              <a:spcAft>
                <a:spcPts val="0"/>
              </a:spcAft>
              <a:buNone/>
            </a:pPr>
            <a:r>
              <a:t/>
            </a:r>
            <a:endParaRPr sz="3300">
              <a:solidFill>
                <a:schemeClr val="dk1"/>
              </a:solidFill>
            </a:endParaRPr>
          </a:p>
          <a:p>
            <a:pPr indent="0" lvl="0" marL="0" rtl="0" algn="l">
              <a:spcBef>
                <a:spcPts val="0"/>
              </a:spcBef>
              <a:spcAft>
                <a:spcPts val="0"/>
              </a:spcAft>
              <a:buNone/>
            </a:pPr>
            <a:r>
              <a:t/>
            </a:r>
            <a:endParaRPr sz="3300">
              <a:solidFill>
                <a:schemeClr val="dk1"/>
              </a:solidFill>
            </a:endParaRPr>
          </a:p>
          <a:p>
            <a:pPr indent="0" lvl="0" marL="0" rtl="0" algn="l">
              <a:spcBef>
                <a:spcPts val="0"/>
              </a:spcBef>
              <a:spcAft>
                <a:spcPts val="0"/>
              </a:spcAft>
              <a:buNone/>
            </a:pPr>
            <a:r>
              <a:rPr lang="en" sz="3300">
                <a:solidFill>
                  <a:schemeClr val="dk1"/>
                </a:solidFill>
              </a:rPr>
              <a:t>Where , </a:t>
            </a:r>
            <a:endParaRPr sz="3300">
              <a:solidFill>
                <a:schemeClr val="dk1"/>
              </a:solidFill>
            </a:endParaRPr>
          </a:p>
          <a:p>
            <a:pPr indent="0" lvl="0" marL="0" rtl="0" algn="l">
              <a:spcBef>
                <a:spcPts val="0"/>
              </a:spcBef>
              <a:spcAft>
                <a:spcPts val="0"/>
              </a:spcAft>
              <a:buNone/>
            </a:pPr>
            <a:r>
              <a:t/>
            </a:r>
            <a:endParaRPr sz="3300">
              <a:solidFill>
                <a:schemeClr val="dk1"/>
              </a:solidFill>
            </a:endParaRPr>
          </a:p>
          <a:p>
            <a:pPr indent="0" lvl="0" marL="0" rtl="0" algn="l">
              <a:spcBef>
                <a:spcPts val="0"/>
              </a:spcBef>
              <a:spcAft>
                <a:spcPts val="0"/>
              </a:spcAft>
              <a:buNone/>
            </a:pPr>
            <a:r>
              <a:rPr lang="en" sz="4400">
                <a:solidFill>
                  <a:schemeClr val="dk1"/>
                </a:solidFill>
              </a:rPr>
              <a:t>stands for the generation probability of the most desirable reflection token</a:t>
            </a:r>
            <a:endParaRPr sz="4400">
              <a:solidFill>
                <a:schemeClr val="dk1"/>
              </a:solidFill>
            </a:endParaRPr>
          </a:p>
          <a:p>
            <a:pPr indent="0" lvl="0" marL="0" rtl="0" algn="l">
              <a:spcBef>
                <a:spcPts val="0"/>
              </a:spcBef>
              <a:spcAft>
                <a:spcPts val="0"/>
              </a:spcAft>
              <a:buNone/>
            </a:pPr>
            <a:r>
              <a:rPr lang="en" sz="4000">
                <a:solidFill>
                  <a:schemeClr val="dk1"/>
                </a:solidFill>
              </a:rPr>
              <a:t>The weights wG in Eq. 4 are hyperparameters that can be adjusted at inference time to enable customized behaviors at test time. For instance, to ensure that result y is mostly supported by evidence, we can set a weight term for the </a:t>
            </a:r>
            <a:r>
              <a:rPr lang="en" sz="4000">
                <a:solidFill>
                  <a:srgbClr val="273887"/>
                </a:solidFill>
              </a:rPr>
              <a:t>ISSUP </a:t>
            </a:r>
            <a:r>
              <a:rPr lang="en" sz="4000">
                <a:solidFill>
                  <a:schemeClr val="dk1"/>
                </a:solidFill>
              </a:rPr>
              <a:t>score higher, while relatively lowering weights for other aspects. Alternatively, we could further enforce hard constraints during decoding using </a:t>
            </a:r>
            <a:r>
              <a:rPr lang="en" sz="4000">
                <a:solidFill>
                  <a:srgbClr val="273887"/>
                </a:solidFill>
              </a:rPr>
              <a:t>Critique </a:t>
            </a:r>
            <a:r>
              <a:rPr lang="en" sz="4000">
                <a:solidFill>
                  <a:schemeClr val="dk1"/>
                </a:solidFill>
              </a:rPr>
              <a:t>e.g., filtering out a segment continuation when the model generates anundesirable token (e.g., </a:t>
            </a:r>
            <a:r>
              <a:rPr lang="en" sz="4000">
                <a:solidFill>
                  <a:srgbClr val="273887"/>
                </a:solidFill>
              </a:rPr>
              <a:t>ISSUP </a:t>
            </a:r>
            <a:r>
              <a:rPr lang="en" sz="4000">
                <a:solidFill>
                  <a:schemeClr val="dk1"/>
                </a:solidFill>
              </a:rPr>
              <a:t>=No support).</a:t>
            </a:r>
            <a:endParaRPr sz="4000">
              <a:solidFill>
                <a:schemeClr val="dk1"/>
              </a:solidFill>
            </a:endParaRPr>
          </a:p>
          <a:p>
            <a:pPr indent="0" lvl="0" marL="0" rtl="0" algn="l">
              <a:spcBef>
                <a:spcPts val="0"/>
              </a:spcBef>
              <a:spcAft>
                <a:spcPts val="0"/>
              </a:spcAft>
              <a:buNone/>
            </a:pPr>
            <a:r>
              <a:t/>
            </a:r>
            <a:endParaRPr sz="750">
              <a:solidFill>
                <a:schemeClr val="dk1"/>
              </a:solidFill>
            </a:endParaRPr>
          </a:p>
          <a:p>
            <a:pPr indent="0" lvl="0" marL="0" rtl="0" algn="l">
              <a:spcBef>
                <a:spcPts val="0"/>
              </a:spcBef>
              <a:spcAft>
                <a:spcPts val="0"/>
              </a:spcAft>
              <a:buNone/>
            </a:pPr>
            <a:r>
              <a:t/>
            </a:r>
            <a:endParaRPr sz="750">
              <a:solidFill>
                <a:schemeClr val="dk1"/>
              </a:solidFill>
            </a:endParaRPr>
          </a:p>
          <a:p>
            <a:pPr indent="0" lvl="0" marL="0" rtl="0" algn="l">
              <a:spcBef>
                <a:spcPts val="0"/>
              </a:spcBef>
              <a:spcAft>
                <a:spcPts val="0"/>
              </a:spcAft>
              <a:buNone/>
            </a:pPr>
            <a:r>
              <a:t/>
            </a:r>
            <a:endParaRPr sz="750">
              <a:solidFill>
                <a:schemeClr val="dk1"/>
              </a:solidFill>
            </a:endParaRPr>
          </a:p>
          <a:p>
            <a:pPr indent="0" lvl="0" marL="0" rtl="0" algn="l">
              <a:spcBef>
                <a:spcPts val="0"/>
              </a:spcBef>
              <a:spcAft>
                <a:spcPts val="0"/>
              </a:spcAft>
              <a:buNone/>
            </a:pPr>
            <a:r>
              <a:t/>
            </a:r>
            <a:endParaRPr sz="750">
              <a:solidFill>
                <a:schemeClr val="dk1"/>
              </a:solidFill>
            </a:endParaRPr>
          </a:p>
          <a:p>
            <a:pPr indent="0" lvl="0" marL="0" rtl="0" algn="l">
              <a:spcBef>
                <a:spcPts val="0"/>
              </a:spcBef>
              <a:spcAft>
                <a:spcPts val="0"/>
              </a:spcAft>
              <a:buNone/>
            </a:pPr>
            <a:r>
              <a:t/>
            </a:r>
            <a:endParaRPr b="1" sz="75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None/>
            </a:pPr>
            <a:r>
              <a:t/>
            </a:r>
            <a:endParaRPr b="1" sz="900">
              <a:solidFill>
                <a:schemeClr val="dk1"/>
              </a:solidFill>
            </a:endParaRPr>
          </a:p>
          <a:p>
            <a:pPr indent="0" lvl="0" marL="0" rtl="0" algn="l">
              <a:spcBef>
                <a:spcPts val="1200"/>
              </a:spcBef>
              <a:spcAft>
                <a:spcPts val="1200"/>
              </a:spcAft>
              <a:buNone/>
            </a:pPr>
            <a:r>
              <a:t/>
            </a:r>
            <a:endParaRPr b="1" sz="900">
              <a:solidFill>
                <a:schemeClr val="dk1"/>
              </a:solidFill>
            </a:endParaRPr>
          </a:p>
        </p:txBody>
      </p:sp>
      <p:pic>
        <p:nvPicPr>
          <p:cNvPr id="128" name="Google Shape;128;p23" title="Screenshot 2025-12-03 at 5.41.02 pm.png"/>
          <p:cNvPicPr preferRelativeResize="0"/>
          <p:nvPr/>
        </p:nvPicPr>
        <p:blipFill>
          <a:blip r:embed="rId3">
            <a:alphaModFix/>
          </a:blip>
          <a:stretch>
            <a:fillRect/>
          </a:stretch>
        </p:blipFill>
        <p:spPr>
          <a:xfrm>
            <a:off x="2246125" y="2859550"/>
            <a:ext cx="3771725" cy="453200"/>
          </a:xfrm>
          <a:prstGeom prst="rect">
            <a:avLst/>
          </a:prstGeom>
          <a:noFill/>
          <a:ln>
            <a:noFill/>
          </a:ln>
        </p:spPr>
      </p:pic>
      <p:pic>
        <p:nvPicPr>
          <p:cNvPr id="129" name="Google Shape;129;p23" title="Screenshot 2025-12-03 at 9.12.08 pm.png"/>
          <p:cNvPicPr preferRelativeResize="0"/>
          <p:nvPr/>
        </p:nvPicPr>
        <p:blipFill>
          <a:blip r:embed="rId4">
            <a:alphaModFix/>
          </a:blip>
          <a:stretch>
            <a:fillRect/>
          </a:stretch>
        </p:blipFill>
        <p:spPr>
          <a:xfrm>
            <a:off x="1572050" y="3312750"/>
            <a:ext cx="1220900" cy="4172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4"/>
          <p:cNvSpPr txBox="1"/>
          <p:nvPr>
            <p:ph type="title"/>
          </p:nvPr>
        </p:nvSpPr>
        <p:spPr>
          <a:xfrm>
            <a:off x="311700" y="445025"/>
            <a:ext cx="28677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b="1" lang="en" sz="1100"/>
              <a:t>4 E</a:t>
            </a:r>
            <a:r>
              <a:rPr b="1" lang="en" sz="900"/>
              <a:t>XPERIMENTS</a:t>
            </a:r>
            <a:endParaRPr b="1" sz="900"/>
          </a:p>
          <a:p>
            <a:pPr indent="0" lvl="0" marL="0" rtl="0" algn="l">
              <a:lnSpc>
                <a:spcPct val="115000"/>
              </a:lnSpc>
              <a:spcBef>
                <a:spcPts val="0"/>
              </a:spcBef>
              <a:spcAft>
                <a:spcPts val="0"/>
              </a:spcAft>
              <a:buNone/>
            </a:pPr>
            <a:r>
              <a:rPr b="1" lang="en" sz="950"/>
              <a:t>4.1 T</a:t>
            </a:r>
            <a:r>
              <a:rPr b="1" lang="en" sz="800"/>
              <a:t>ASKS AND </a:t>
            </a:r>
            <a:r>
              <a:rPr b="1" lang="en" sz="950"/>
              <a:t>D</a:t>
            </a:r>
            <a:r>
              <a:rPr b="1" lang="en" sz="800"/>
              <a:t>ATASETS</a:t>
            </a:r>
            <a:endParaRPr b="1" sz="3000"/>
          </a:p>
        </p:txBody>
      </p:sp>
      <p:sp>
        <p:nvSpPr>
          <p:cNvPr id="135" name="Google Shape;135;p24"/>
          <p:cNvSpPr txBox="1"/>
          <p:nvPr>
            <p:ph idx="1" type="body"/>
          </p:nvPr>
        </p:nvSpPr>
        <p:spPr>
          <a:xfrm>
            <a:off x="311700" y="951225"/>
            <a:ext cx="3715800" cy="23751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t/>
            </a:r>
            <a:endParaRPr sz="700">
              <a:solidFill>
                <a:schemeClr val="dk1"/>
              </a:solidFill>
            </a:endParaRPr>
          </a:p>
          <a:p>
            <a:pPr indent="-273050" lvl="0" marL="457200" rtl="0" algn="l">
              <a:spcBef>
                <a:spcPts val="1200"/>
              </a:spcBef>
              <a:spcAft>
                <a:spcPts val="0"/>
              </a:spcAft>
              <a:buClr>
                <a:schemeClr val="dk1"/>
              </a:buClr>
              <a:buSzPts val="700"/>
              <a:buChar char="●"/>
            </a:pPr>
            <a:r>
              <a:rPr lang="en" sz="700">
                <a:solidFill>
                  <a:schemeClr val="dk1"/>
                </a:solidFill>
              </a:rPr>
              <a:t>We tested SELF-RAG and other models on many tasks to measure correctness, factual accuracy, and fluency.</a:t>
            </a:r>
            <a:endParaRPr sz="700">
              <a:solidFill>
                <a:schemeClr val="dk1"/>
              </a:solidFill>
            </a:endParaRPr>
          </a:p>
          <a:p>
            <a:pPr indent="-273050" lvl="0" marL="457200" rtl="0" algn="l">
              <a:spcBef>
                <a:spcPts val="0"/>
              </a:spcBef>
              <a:spcAft>
                <a:spcPts val="0"/>
              </a:spcAft>
              <a:buClr>
                <a:schemeClr val="dk1"/>
              </a:buClr>
              <a:buSzPts val="700"/>
              <a:buChar char="●"/>
            </a:pPr>
            <a:r>
              <a:rPr lang="en" sz="700">
                <a:solidFill>
                  <a:schemeClr val="dk1"/>
                </a:solidFill>
              </a:rPr>
              <a:t>All evaluations were </a:t>
            </a:r>
            <a:r>
              <a:rPr b="1" lang="en" sz="700">
                <a:solidFill>
                  <a:schemeClr val="dk1"/>
                </a:solidFill>
              </a:rPr>
              <a:t>zero-shot</a:t>
            </a:r>
            <a:r>
              <a:rPr lang="en" sz="700">
                <a:solidFill>
                  <a:schemeClr val="dk1"/>
                </a:solidFill>
              </a:rPr>
              <a:t>, meaning models only got instructions and no example answers.</a:t>
            </a:r>
            <a:endParaRPr sz="700">
              <a:solidFill>
                <a:schemeClr val="dk1"/>
              </a:solidFill>
            </a:endParaRPr>
          </a:p>
          <a:p>
            <a:pPr indent="-273050" lvl="0" marL="457200" rtl="0" algn="l">
              <a:spcBef>
                <a:spcPts val="0"/>
              </a:spcBef>
              <a:spcAft>
                <a:spcPts val="0"/>
              </a:spcAft>
              <a:buClr>
                <a:schemeClr val="dk1"/>
              </a:buClr>
              <a:buSzPts val="700"/>
              <a:buChar char="●"/>
            </a:pPr>
            <a:r>
              <a:rPr b="1" lang="en" sz="700">
                <a:solidFill>
                  <a:schemeClr val="dk1"/>
                </a:solidFill>
              </a:rPr>
              <a:t>Closed-set tasks</a:t>
            </a:r>
            <a:r>
              <a:rPr lang="en" sz="700">
                <a:solidFill>
                  <a:schemeClr val="dk1"/>
                </a:solidFill>
              </a:rPr>
              <a:t> included PubHealth (fact-checking) and ARC-Challenge (multiple-choice reasoning), measured using accuracy.</a:t>
            </a:r>
            <a:endParaRPr sz="700">
              <a:solidFill>
                <a:schemeClr val="dk1"/>
              </a:solidFill>
            </a:endParaRPr>
          </a:p>
          <a:p>
            <a:pPr indent="-273050" lvl="0" marL="457200" rtl="0" algn="l">
              <a:spcBef>
                <a:spcPts val="0"/>
              </a:spcBef>
              <a:spcAft>
                <a:spcPts val="0"/>
              </a:spcAft>
              <a:buClr>
                <a:schemeClr val="dk1"/>
              </a:buClr>
              <a:buSzPts val="700"/>
              <a:buChar char="●"/>
            </a:pPr>
            <a:r>
              <a:rPr b="1" lang="en" sz="700">
                <a:solidFill>
                  <a:schemeClr val="dk1"/>
                </a:solidFill>
              </a:rPr>
              <a:t>Short-form QA tasks</a:t>
            </a:r>
            <a:r>
              <a:rPr lang="en" sz="700">
                <a:solidFill>
                  <a:schemeClr val="dk1"/>
                </a:solidFill>
              </a:rPr>
              <a:t> included PopQA and TriviaQA, where the model must answer open-domain factual questions.</a:t>
            </a:r>
            <a:endParaRPr sz="700">
              <a:solidFill>
                <a:schemeClr val="dk1"/>
              </a:solidFill>
            </a:endParaRPr>
          </a:p>
          <a:p>
            <a:pPr indent="-273050" lvl="0" marL="457200" rtl="0" algn="l">
              <a:spcBef>
                <a:spcPts val="0"/>
              </a:spcBef>
              <a:spcAft>
                <a:spcPts val="0"/>
              </a:spcAft>
              <a:buClr>
                <a:schemeClr val="dk1"/>
              </a:buClr>
              <a:buSzPts val="700"/>
              <a:buChar char="●"/>
            </a:pPr>
            <a:r>
              <a:rPr lang="en" sz="700">
                <a:solidFill>
                  <a:schemeClr val="dk1"/>
                </a:solidFill>
              </a:rPr>
              <a:t>For PopQA, we used the long-tail subset with rare entities; for TriviaQA, we used a standard test split.</a:t>
            </a:r>
            <a:endParaRPr sz="700">
              <a:solidFill>
                <a:schemeClr val="dk1"/>
              </a:solidFill>
            </a:endParaRPr>
          </a:p>
          <a:p>
            <a:pPr indent="-273050" lvl="0" marL="457200" rtl="0" algn="l">
              <a:spcBef>
                <a:spcPts val="0"/>
              </a:spcBef>
              <a:spcAft>
                <a:spcPts val="0"/>
              </a:spcAft>
              <a:buClr>
                <a:schemeClr val="dk1"/>
              </a:buClr>
              <a:buSzPts val="700"/>
              <a:buChar char="●"/>
            </a:pPr>
            <a:r>
              <a:rPr lang="en" sz="700">
                <a:solidFill>
                  <a:schemeClr val="dk1"/>
                </a:solidFill>
              </a:rPr>
              <a:t>We evaluated short-form QA by checking whether the model’s output contains the correct answer.</a:t>
            </a:r>
            <a:endParaRPr sz="700">
              <a:solidFill>
                <a:schemeClr val="dk1"/>
              </a:solidFill>
            </a:endParaRPr>
          </a:p>
          <a:p>
            <a:pPr indent="-273050" lvl="0" marL="457200" rtl="0" algn="l">
              <a:spcBef>
                <a:spcPts val="0"/>
              </a:spcBef>
              <a:spcAft>
                <a:spcPts val="0"/>
              </a:spcAft>
              <a:buClr>
                <a:schemeClr val="dk1"/>
              </a:buClr>
              <a:buSzPts val="700"/>
              <a:buChar char="●"/>
            </a:pPr>
            <a:r>
              <a:rPr b="1" lang="en" sz="700">
                <a:solidFill>
                  <a:schemeClr val="dk1"/>
                </a:solidFill>
              </a:rPr>
              <a:t>Long-form tasks</a:t>
            </a:r>
            <a:r>
              <a:rPr lang="en" sz="700">
                <a:solidFill>
                  <a:schemeClr val="dk1"/>
                </a:solidFill>
              </a:rPr>
              <a:t> included biography generation and ASQA, which require paragraph-level answers.</a:t>
            </a:r>
            <a:endParaRPr sz="700">
              <a:solidFill>
                <a:schemeClr val="dk1"/>
              </a:solidFill>
            </a:endParaRPr>
          </a:p>
          <a:p>
            <a:pPr indent="-273050" lvl="0" marL="457200" rtl="0" algn="l">
              <a:spcBef>
                <a:spcPts val="0"/>
              </a:spcBef>
              <a:spcAft>
                <a:spcPts val="0"/>
              </a:spcAft>
              <a:buClr>
                <a:schemeClr val="dk1"/>
              </a:buClr>
              <a:buSzPts val="700"/>
              <a:buChar char="●"/>
            </a:pPr>
            <a:r>
              <a:rPr lang="en" sz="700">
                <a:solidFill>
                  <a:schemeClr val="dk1"/>
                </a:solidFill>
              </a:rPr>
              <a:t>Biographies were scored using </a:t>
            </a:r>
            <a:r>
              <a:rPr b="1" lang="en" sz="700">
                <a:solidFill>
                  <a:schemeClr val="dk1"/>
                </a:solidFill>
              </a:rPr>
              <a:t>FactScore</a:t>
            </a:r>
            <a:r>
              <a:rPr lang="en" sz="700">
                <a:solidFill>
                  <a:schemeClr val="dk1"/>
                </a:solidFill>
              </a:rPr>
              <a:t>, and ASQA was evaluated using correctness, fluency (MAUVE), and citation precision/recall.</a:t>
            </a:r>
            <a:endParaRPr sz="700"/>
          </a:p>
        </p:txBody>
      </p:sp>
      <p:sp>
        <p:nvSpPr>
          <p:cNvPr id="136" name="Google Shape;136;p24"/>
          <p:cNvSpPr txBox="1"/>
          <p:nvPr>
            <p:ph type="title"/>
          </p:nvPr>
        </p:nvSpPr>
        <p:spPr>
          <a:xfrm>
            <a:off x="4572000" y="445025"/>
            <a:ext cx="4260300" cy="4191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lang="en" sz="1000"/>
              <a:t>4.2 BASELINES</a:t>
            </a:r>
            <a:endParaRPr sz="1000"/>
          </a:p>
          <a:p>
            <a:pPr indent="0" lvl="0" marL="0" rtl="0" algn="l">
              <a:spcBef>
                <a:spcPts val="0"/>
              </a:spcBef>
              <a:spcAft>
                <a:spcPts val="0"/>
              </a:spcAft>
              <a:buSzPts val="990"/>
              <a:buNone/>
            </a:pPr>
            <a:r>
              <a:t/>
            </a:r>
            <a:endParaRPr sz="1000"/>
          </a:p>
        </p:txBody>
      </p:sp>
      <p:sp>
        <p:nvSpPr>
          <p:cNvPr id="137" name="Google Shape;137;p24"/>
          <p:cNvSpPr txBox="1"/>
          <p:nvPr>
            <p:ph idx="1" type="body"/>
          </p:nvPr>
        </p:nvSpPr>
        <p:spPr>
          <a:xfrm>
            <a:off x="4572000" y="892575"/>
            <a:ext cx="4260300" cy="23451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800">
                <a:solidFill>
                  <a:schemeClr val="dk1"/>
                </a:solidFill>
              </a:rPr>
              <a:t>Baselines without retrieval:</a:t>
            </a:r>
            <a:br>
              <a:rPr b="1" lang="en" sz="800">
                <a:solidFill>
                  <a:schemeClr val="dk1"/>
                </a:solidFill>
              </a:rPr>
            </a:br>
            <a:r>
              <a:rPr lang="en" sz="800">
                <a:solidFill>
                  <a:schemeClr val="dk1"/>
                </a:solidFill>
              </a:rPr>
              <a:t>The authors first compare SELF-RAG to models that </a:t>
            </a:r>
            <a:r>
              <a:rPr i="1" lang="en" sz="800">
                <a:solidFill>
                  <a:schemeClr val="dk1"/>
                </a:solidFill>
              </a:rPr>
              <a:t>do not use retrieval</a:t>
            </a:r>
            <a:r>
              <a:rPr lang="en" sz="800">
                <a:solidFill>
                  <a:schemeClr val="dk1"/>
                </a:solidFill>
              </a:rPr>
              <a:t>. These include popular open-source models like Llama 2 (7B and 13B), Alpaca (7B and 13B), and also proprietary models like ChatGPT and Llama2-chat. They also compare with CoVE-65B, a method that uses advanced prompting to improve factual accuracy.</a:t>
            </a:r>
            <a:endParaRPr sz="800">
              <a:solidFill>
                <a:schemeClr val="dk1"/>
              </a:solidFill>
            </a:endParaRPr>
          </a:p>
          <a:p>
            <a:pPr indent="0" lvl="0" marL="0" rtl="0" algn="l">
              <a:spcBef>
                <a:spcPts val="1200"/>
              </a:spcBef>
              <a:spcAft>
                <a:spcPts val="0"/>
              </a:spcAft>
              <a:buNone/>
            </a:pPr>
            <a:r>
              <a:rPr b="1" lang="en" sz="800">
                <a:solidFill>
                  <a:schemeClr val="dk1"/>
                </a:solidFill>
              </a:rPr>
              <a:t>Baselines with retrieval:</a:t>
            </a:r>
            <a:br>
              <a:rPr b="1" lang="en" sz="800">
                <a:solidFill>
                  <a:schemeClr val="dk1"/>
                </a:solidFill>
              </a:rPr>
            </a:br>
            <a:r>
              <a:rPr lang="en" sz="800">
                <a:solidFill>
                  <a:schemeClr val="dk1"/>
                </a:solidFill>
              </a:rPr>
              <a:t>Next, they compare SELF-RAG to models that </a:t>
            </a:r>
            <a:r>
              <a:rPr i="1" lang="en" sz="800">
                <a:solidFill>
                  <a:schemeClr val="dk1"/>
                </a:solidFill>
              </a:rPr>
              <a:t>do use retrieval</a:t>
            </a:r>
            <a:r>
              <a:rPr lang="en" sz="800">
                <a:solidFill>
                  <a:schemeClr val="dk1"/>
                </a:solidFill>
              </a:rPr>
              <a:t>. This includes standard RAG setups where models like Llama2 or Alpaca receive retrieved documents before generating an answer. They also include versions fine-tuned without reflection tokens (Llama2-FT), plus retrieval-augmented ChatGPT and Llama2-chat. Other advanced retrieval training methods like SAIL and Toolformer are also included.</a:t>
            </a:r>
            <a:endParaRPr sz="800">
              <a:solidFill>
                <a:schemeClr val="dk1"/>
              </a:solidFill>
            </a:endParaRPr>
          </a:p>
          <a:p>
            <a:pPr indent="0" lvl="0" marL="0" rtl="0" algn="l">
              <a:spcBef>
                <a:spcPts val="1200"/>
              </a:spcBef>
              <a:spcAft>
                <a:spcPts val="1200"/>
              </a:spcAft>
              <a:buNone/>
            </a:pPr>
            <a:r>
              <a:rPr lang="en" sz="800" u="sng">
                <a:solidFill>
                  <a:schemeClr val="hlink"/>
                </a:solidFill>
                <a:hlinkClick r:id="rId3"/>
              </a:rPr>
              <a:t>https://github.com/princeton-nlp/ALCE</a:t>
            </a:r>
            <a:r>
              <a:rPr lang="en" sz="800"/>
              <a:t> </a:t>
            </a:r>
            <a:endParaRPr sz="800"/>
          </a:p>
        </p:txBody>
      </p:sp>
      <p:sp>
        <p:nvSpPr>
          <p:cNvPr id="138" name="Google Shape;138;p24"/>
          <p:cNvSpPr txBox="1"/>
          <p:nvPr>
            <p:ph idx="1" type="body"/>
          </p:nvPr>
        </p:nvSpPr>
        <p:spPr>
          <a:xfrm>
            <a:off x="251975" y="3552125"/>
            <a:ext cx="8720700" cy="1429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rPr>
              <a:t>4.3 EXPERIMENTAL SETTINGS</a:t>
            </a:r>
            <a:endParaRPr b="1" sz="900">
              <a:solidFill>
                <a:schemeClr val="dk1"/>
              </a:solidFill>
            </a:endParaRPr>
          </a:p>
          <a:p>
            <a:pPr indent="-285750" lvl="0" marL="457200" rtl="0" algn="l">
              <a:spcBef>
                <a:spcPts val="0"/>
              </a:spcBef>
              <a:spcAft>
                <a:spcPts val="0"/>
              </a:spcAft>
              <a:buClr>
                <a:schemeClr val="dk1"/>
              </a:buClr>
              <a:buSzPts val="900"/>
              <a:buChar char="●"/>
            </a:pPr>
            <a:r>
              <a:rPr b="1" lang="en" sz="900">
                <a:solidFill>
                  <a:schemeClr val="dk1"/>
                </a:solidFill>
              </a:rPr>
              <a:t>Training data and settings : </a:t>
            </a:r>
            <a:endParaRPr b="1" sz="900">
              <a:solidFill>
                <a:schemeClr val="dk1"/>
              </a:solidFill>
            </a:endParaRPr>
          </a:p>
          <a:p>
            <a:pPr indent="-285750" lvl="0" marL="457200" rtl="0" algn="l">
              <a:spcBef>
                <a:spcPts val="0"/>
              </a:spcBef>
              <a:spcAft>
                <a:spcPts val="0"/>
              </a:spcAft>
              <a:buClr>
                <a:schemeClr val="dk1"/>
              </a:buClr>
              <a:buSzPts val="900"/>
              <a:buChar char="●"/>
            </a:pPr>
            <a:r>
              <a:rPr lang="en" sz="900">
                <a:solidFill>
                  <a:schemeClr val="dk1"/>
                </a:solidFill>
                <a:latin typeface="Times New Roman"/>
                <a:ea typeface="Times New Roman"/>
                <a:cs typeface="Times New Roman"/>
                <a:sym typeface="Times New Roman"/>
              </a:rPr>
              <a:t>The model is trained on 150k diverse instruction–output examples taken from Open-Instruct and several knowledge-heavy datasets. Llama-2 (7B/13B) is used as the generator model, Llama-2-7B as the critic, and Contriever-MS MARCO is used to retrieve up to 10 documents per query.</a:t>
            </a:r>
            <a:endParaRPr sz="900">
              <a:solidFill>
                <a:schemeClr val="dk1"/>
              </a:solidFill>
              <a:latin typeface="Times New Roman"/>
              <a:ea typeface="Times New Roman"/>
              <a:cs typeface="Times New Roman"/>
              <a:sym typeface="Times New Roman"/>
            </a:endParaRPr>
          </a:p>
          <a:p>
            <a:pPr indent="-285750" lvl="0" marL="457200" rtl="0" algn="l">
              <a:spcBef>
                <a:spcPts val="0"/>
              </a:spcBef>
              <a:spcAft>
                <a:spcPts val="0"/>
              </a:spcAft>
              <a:buClr>
                <a:schemeClr val="dk1"/>
              </a:buClr>
              <a:buSzPts val="900"/>
              <a:buChar char="●"/>
            </a:pPr>
            <a:r>
              <a:rPr b="1" lang="en" sz="900">
                <a:solidFill>
                  <a:schemeClr val="dk1"/>
                </a:solidFill>
              </a:rPr>
              <a:t>Inference settings:</a:t>
            </a:r>
            <a:endParaRPr b="1" sz="900">
              <a:solidFill>
                <a:schemeClr val="dk1"/>
              </a:solidFill>
            </a:endParaRPr>
          </a:p>
          <a:p>
            <a:pPr indent="-285750" lvl="0" marL="457200" rtl="0" algn="l">
              <a:spcBef>
                <a:spcPts val="0"/>
              </a:spcBef>
              <a:spcAft>
                <a:spcPts val="0"/>
              </a:spcAft>
              <a:buClr>
                <a:schemeClr val="dk1"/>
              </a:buClr>
              <a:buSzPts val="900"/>
              <a:buChar char="●"/>
            </a:pPr>
            <a:r>
              <a:rPr lang="en" sz="900">
                <a:solidFill>
                  <a:schemeClr val="dk1"/>
                </a:solidFill>
                <a:latin typeface="Times New Roman"/>
                <a:ea typeface="Times New Roman"/>
                <a:cs typeface="Times New Roman"/>
                <a:sym typeface="Times New Roman"/>
              </a:rPr>
              <a:t>During inference, the reflection token weights are set to ISREL = 1.0, ISSUP = 1.0, and ISUSE = 0.5. The retrieval threshold is 0.2 (and 0 for ALCE). They use vLLM for faster inference, beam width 2 for segment-level search, and greedy decoding for tokens. By default, the top 5 retrieved documents are used, with extra documents added from web search for biographies/QA and GTR-XXL documents for ASQA.</a:t>
            </a:r>
            <a:endParaRPr sz="900">
              <a:latin typeface="Times New Roman"/>
              <a:ea typeface="Times New Roman"/>
              <a:cs typeface="Times New Roman"/>
              <a:sym typeface="Times New Roman"/>
            </a:endParaRPr>
          </a:p>
          <a:p>
            <a:pPr indent="0" lvl="0" marL="457200" rtl="0" algn="l">
              <a:spcBef>
                <a:spcPts val="1200"/>
              </a:spcBef>
              <a:spcAft>
                <a:spcPts val="1200"/>
              </a:spcAft>
              <a:buNone/>
            </a:pPr>
            <a:r>
              <a:t/>
            </a:r>
            <a:endParaRPr sz="9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5"/>
          <p:cNvSpPr txBox="1"/>
          <p:nvPr>
            <p:ph type="title"/>
          </p:nvPr>
        </p:nvSpPr>
        <p:spPr>
          <a:xfrm>
            <a:off x="311700" y="445025"/>
            <a:ext cx="8520600" cy="336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100"/>
              <a:t>RESULTS</a:t>
            </a:r>
            <a:endParaRPr b="1" sz="1100"/>
          </a:p>
          <a:p>
            <a:pPr indent="0" lvl="0" marL="0" rtl="0" algn="l">
              <a:spcBef>
                <a:spcPts val="0"/>
              </a:spcBef>
              <a:spcAft>
                <a:spcPts val="0"/>
              </a:spcAft>
              <a:buSzPts val="990"/>
              <a:buNone/>
            </a:pPr>
            <a:r>
              <a:t/>
            </a:r>
            <a:endParaRPr b="1" sz="1100"/>
          </a:p>
        </p:txBody>
      </p:sp>
      <p:sp>
        <p:nvSpPr>
          <p:cNvPr id="144" name="Google Shape;144;p25"/>
          <p:cNvSpPr txBox="1"/>
          <p:nvPr>
            <p:ph idx="1" type="body"/>
          </p:nvPr>
        </p:nvSpPr>
        <p:spPr>
          <a:xfrm>
            <a:off x="311700" y="850450"/>
            <a:ext cx="8520600" cy="1347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100">
                <a:solidFill>
                  <a:schemeClr val="dk1"/>
                </a:solidFill>
              </a:rPr>
              <a:t>SELF-RAG performs much better than models that don’t use retrieval, even beating ChatGPT in tasks like PubHealth, PopQA, biography writing, and ASQA. It also outperforms advanced methods like CoVE, which uses complicated prompting. When compared to models that </a:t>
            </a:r>
            <a:r>
              <a:rPr i="1" lang="en" sz="1100">
                <a:solidFill>
                  <a:schemeClr val="dk1"/>
                </a:solidFill>
              </a:rPr>
              <a:t>do</a:t>
            </a:r>
            <a:r>
              <a:rPr lang="en" sz="1100">
                <a:solidFill>
                  <a:schemeClr val="dk1"/>
                </a:solidFill>
              </a:rPr>
              <a:t> use retrieval, SELF-RAG still gives the best results among all open-source models. Other retrieval-based models often fail to improve accuracy or citations, but SELF RAG achieves much higher citation precision sometimes even better than ChatGPT. This shows that SELF RAG works well not just because of the training data, but because its method of retrieval + self-reflection is genuinely more effective.</a:t>
            </a:r>
            <a:endParaRPr>
              <a:latin typeface="Times New Roman"/>
              <a:ea typeface="Times New Roman"/>
              <a:cs typeface="Times New Roman"/>
              <a:sym typeface="Times New Roman"/>
            </a:endParaRPr>
          </a:p>
        </p:txBody>
      </p:sp>
      <p:sp>
        <p:nvSpPr>
          <p:cNvPr id="145" name="Google Shape;145;p25"/>
          <p:cNvSpPr txBox="1"/>
          <p:nvPr>
            <p:ph type="title"/>
          </p:nvPr>
        </p:nvSpPr>
        <p:spPr>
          <a:xfrm>
            <a:off x="311700" y="2300525"/>
            <a:ext cx="8520600" cy="336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b="1" lang="en" sz="1100"/>
              <a:t>ANALYSIS</a:t>
            </a:r>
            <a:endParaRPr b="1" sz="1100"/>
          </a:p>
          <a:p>
            <a:pPr indent="0" lvl="0" marL="0" rtl="0" algn="l">
              <a:spcBef>
                <a:spcPts val="0"/>
              </a:spcBef>
              <a:spcAft>
                <a:spcPts val="0"/>
              </a:spcAft>
              <a:buSzPts val="990"/>
              <a:buNone/>
            </a:pPr>
            <a:r>
              <a:t/>
            </a:r>
            <a:endParaRPr b="1" sz="1100"/>
          </a:p>
        </p:txBody>
      </p:sp>
      <p:sp>
        <p:nvSpPr>
          <p:cNvPr id="146" name="Google Shape;146;p25"/>
          <p:cNvSpPr txBox="1"/>
          <p:nvPr>
            <p:ph type="title"/>
          </p:nvPr>
        </p:nvSpPr>
        <p:spPr>
          <a:xfrm>
            <a:off x="368350" y="2793000"/>
            <a:ext cx="8520600" cy="21612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rPr lang="en" sz="1100"/>
              <a:t>The analysis shows that every part of SELF RAG is important for its strong performance. When the model is trained without retrieval or without the critic’s reflection tokens, its accuracy drops a lot. Likewise, using only the top retrieved passage or removing the ISSUP support check during inference also hurts results, proving that SELF RAG works because it carefully evaluates relevance and evidence. The framework also allows customization at inference: increasing the weight of ISSUP improves citation precision but slightly reduces fluency, letting users choose between stricter factual accuracy or more natural writing. Finally, adjusting the retrieval threshold δ changes how often the model retrieves information higher thresholds mean fewer retrievals. This affects tasks differently: PopHealth remains stable, while PopQA suffers more when retrieval decreases, showing a clear trade-off between efficiency and accuracy.</a:t>
            </a:r>
            <a:endParaRPr b="1" sz="11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52" name="Google Shape;152;p26"/>
          <p:cNvSpPr txBox="1"/>
          <p:nvPr>
            <p:ph idx="1" type="body"/>
          </p:nvPr>
        </p:nvSpPr>
        <p:spPr>
          <a:xfrm>
            <a:off x="311700" y="166475"/>
            <a:ext cx="8520600" cy="4402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3" name="Google Shape;153;p26" title="Screenshot 2025-12-03 at 9.27.28 pm.png"/>
          <p:cNvPicPr preferRelativeResize="0"/>
          <p:nvPr/>
        </p:nvPicPr>
        <p:blipFill>
          <a:blip r:embed="rId3">
            <a:alphaModFix/>
          </a:blip>
          <a:stretch>
            <a:fillRect/>
          </a:stretch>
        </p:blipFill>
        <p:spPr>
          <a:xfrm>
            <a:off x="204075" y="97200"/>
            <a:ext cx="8590750" cy="48698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59" name="Google Shape;159;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0" name="Google Shape;160;p27" title="Screenshot 2025-12-03 at 9.28.31 pm.png"/>
          <p:cNvPicPr preferRelativeResize="0"/>
          <p:nvPr/>
        </p:nvPicPr>
        <p:blipFill>
          <a:blip r:embed="rId3">
            <a:alphaModFix/>
          </a:blip>
          <a:stretch>
            <a:fillRect/>
          </a:stretch>
        </p:blipFill>
        <p:spPr>
          <a:xfrm>
            <a:off x="311700" y="499750"/>
            <a:ext cx="8520601" cy="39962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8"/>
          <p:cNvSpPr txBox="1"/>
          <p:nvPr>
            <p:ph type="title"/>
          </p:nvPr>
        </p:nvSpPr>
        <p:spPr>
          <a:xfrm>
            <a:off x="236475" y="157750"/>
            <a:ext cx="8520600" cy="48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900"/>
              <a:t>The training data for SELF-RAG is created by using the critic model to decide when retrieval is needed, inserting relevant passages and reflection tokens for each sentence, and balancing the dataset by down-sampling easy cases and up-sampling difficult ones.</a:t>
            </a:r>
            <a:endParaRPr sz="900"/>
          </a:p>
        </p:txBody>
      </p:sp>
      <p:sp>
        <p:nvSpPr>
          <p:cNvPr id="166" name="Google Shape;166;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457200" lvl="0" marL="3200400" rtl="0" algn="just">
              <a:spcBef>
                <a:spcPts val="0"/>
              </a:spcBef>
              <a:spcAft>
                <a:spcPts val="1200"/>
              </a:spcAft>
              <a:buNone/>
            </a:pPr>
            <a:r>
              <a:t/>
            </a:r>
            <a:endParaRPr b="1" sz="1000">
              <a:solidFill>
                <a:schemeClr val="dk1"/>
              </a:solidFill>
            </a:endParaRPr>
          </a:p>
        </p:txBody>
      </p:sp>
      <p:pic>
        <p:nvPicPr>
          <p:cNvPr id="167" name="Google Shape;167;p28" title="Screenshot 2025-12-03 at 9.58.16 pm.png"/>
          <p:cNvPicPr preferRelativeResize="0"/>
          <p:nvPr/>
        </p:nvPicPr>
        <p:blipFill>
          <a:blip r:embed="rId3">
            <a:alphaModFix/>
          </a:blip>
          <a:stretch>
            <a:fillRect/>
          </a:stretch>
        </p:blipFill>
        <p:spPr>
          <a:xfrm>
            <a:off x="311700" y="603575"/>
            <a:ext cx="7325376" cy="1968174"/>
          </a:xfrm>
          <a:prstGeom prst="rect">
            <a:avLst/>
          </a:prstGeom>
          <a:noFill/>
          <a:ln>
            <a:noFill/>
          </a:ln>
        </p:spPr>
      </p:pic>
      <p:pic>
        <p:nvPicPr>
          <p:cNvPr id="168" name="Google Shape;168;p28" title="Screenshot 2025-12-03 at 10.00.39 pm.png"/>
          <p:cNvPicPr preferRelativeResize="0"/>
          <p:nvPr/>
        </p:nvPicPr>
        <p:blipFill>
          <a:blip r:embed="rId4">
            <a:alphaModFix/>
          </a:blip>
          <a:stretch>
            <a:fillRect/>
          </a:stretch>
        </p:blipFill>
        <p:spPr>
          <a:xfrm>
            <a:off x="521050" y="2489675"/>
            <a:ext cx="7870223" cy="24441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9"/>
          <p:cNvSpPr txBox="1"/>
          <p:nvPr>
            <p:ph type="title"/>
          </p:nvPr>
        </p:nvSpPr>
        <p:spPr>
          <a:xfrm>
            <a:off x="311700" y="445025"/>
            <a:ext cx="2088000" cy="35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t>Human </a:t>
            </a:r>
            <a:r>
              <a:rPr b="1" lang="en" sz="1400"/>
              <a:t>evaluation</a:t>
            </a:r>
            <a:r>
              <a:rPr b="1" lang="en" sz="1400"/>
              <a:t> </a:t>
            </a:r>
            <a:endParaRPr b="1" sz="1400"/>
          </a:p>
        </p:txBody>
      </p:sp>
      <p:sp>
        <p:nvSpPr>
          <p:cNvPr id="174" name="Google Shape;174;p29"/>
          <p:cNvSpPr txBox="1"/>
          <p:nvPr>
            <p:ph idx="1" type="body"/>
          </p:nvPr>
        </p:nvSpPr>
        <p:spPr>
          <a:xfrm>
            <a:off x="311700" y="802625"/>
            <a:ext cx="4057800" cy="3766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100">
                <a:solidFill>
                  <a:schemeClr val="dk1"/>
                </a:solidFill>
              </a:rPr>
              <a:t>Human evaluations show that SELF-RAG’s answers are usually plausible and well-supported by evidence, and its reflection tokens (ISREL and ISSUP) mostly match human judgments. Annotators reviewed examples from PopQA and biography tasks and confirmed that SELF-RAG correctly identifies relevant passages, flags contradictions, and marks partially supported claims when evidence is incomplete.</a:t>
            </a:r>
            <a:endParaRPr sz="1100">
              <a:solidFill>
                <a:schemeClr val="dk1"/>
              </a:solidFill>
            </a:endParaRPr>
          </a:p>
        </p:txBody>
      </p:sp>
      <p:pic>
        <p:nvPicPr>
          <p:cNvPr id="175" name="Google Shape;175;p29" title="Screenshot 2025-12-03 at 10.42.49 pm.png"/>
          <p:cNvPicPr preferRelativeResize="0"/>
          <p:nvPr/>
        </p:nvPicPr>
        <p:blipFill>
          <a:blip r:embed="rId3">
            <a:alphaModFix/>
          </a:blip>
          <a:stretch>
            <a:fillRect/>
          </a:stretch>
        </p:blipFill>
        <p:spPr>
          <a:xfrm>
            <a:off x="4747750" y="213925"/>
            <a:ext cx="3552838" cy="483869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600"/>
              <a:t>6 C</a:t>
            </a:r>
            <a:r>
              <a:rPr b="1" lang="en" sz="1400"/>
              <a:t>ONCLUSION</a:t>
            </a:r>
            <a:endParaRPr b="1" sz="3500"/>
          </a:p>
        </p:txBody>
      </p:sp>
      <p:sp>
        <p:nvSpPr>
          <p:cNvPr id="181" name="Google Shape;181;p30"/>
          <p:cNvSpPr txBox="1"/>
          <p:nvPr>
            <p:ph idx="1" type="body"/>
          </p:nvPr>
        </p:nvSpPr>
        <p:spPr>
          <a:xfrm>
            <a:off x="311700" y="1096675"/>
            <a:ext cx="8520600" cy="30438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1700">
                <a:solidFill>
                  <a:schemeClr val="dk1"/>
                </a:solidFill>
              </a:rPr>
              <a:t>This work introduces SELF-RAG, a method that improves the accuracy and quality of large language models by letting them retrieve information only when needed and reflect on their own answers. It trains the model to retrieve, generate, and critique text using both normal tokens and new “reflection tokens.” These tokens also allow users to control the model’s behavior during testing. Experiments on six different tasks show that SELF-RAG performs much better than larger models and standard RAG systems.</a:t>
            </a:r>
            <a:endParaRPr sz="17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1"/>
          <p:cNvSpPr txBox="1"/>
          <p:nvPr>
            <p:ph type="title"/>
          </p:nvPr>
        </p:nvSpPr>
        <p:spPr>
          <a:xfrm>
            <a:off x="311700" y="445025"/>
            <a:ext cx="3183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Code : </a:t>
            </a:r>
            <a:endParaRPr/>
          </a:p>
        </p:txBody>
      </p:sp>
      <p:sp>
        <p:nvSpPr>
          <p:cNvPr id="187" name="Google Shape;187;p31"/>
          <p:cNvSpPr txBox="1"/>
          <p:nvPr>
            <p:ph idx="1" type="body"/>
          </p:nvPr>
        </p:nvSpPr>
        <p:spPr>
          <a:xfrm>
            <a:off x="311700" y="1152475"/>
            <a:ext cx="3375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000">
                <a:solidFill>
                  <a:schemeClr val="dk1"/>
                </a:solidFill>
              </a:rPr>
              <a:t>-&gt; </a:t>
            </a:r>
            <a:r>
              <a:rPr lang="en" sz="1000">
                <a:solidFill>
                  <a:schemeClr val="dk1"/>
                </a:solidFill>
              </a:rPr>
              <a:t>pip install -r requirements.txt</a:t>
            </a:r>
            <a:endParaRPr sz="1000">
              <a:solidFill>
                <a:schemeClr val="dk1"/>
              </a:solidFill>
            </a:endParaRPr>
          </a:p>
          <a:p>
            <a:pPr indent="0" lvl="0" marL="0" rtl="0" algn="l">
              <a:spcBef>
                <a:spcPts val="1200"/>
              </a:spcBef>
              <a:spcAft>
                <a:spcPts val="0"/>
              </a:spcAft>
              <a:buNone/>
            </a:pPr>
            <a:r>
              <a:rPr lang="en" sz="1000">
                <a:solidFill>
                  <a:schemeClr val="dk1"/>
                </a:solidFill>
              </a:rPr>
              <a:t>-&gt; conda env create -f environment.yml</a:t>
            </a:r>
            <a:endParaRPr sz="1000">
              <a:solidFill>
                <a:schemeClr val="dk1"/>
              </a:solidFill>
            </a:endParaRPr>
          </a:p>
          <a:p>
            <a:pPr indent="0" lvl="0" marL="0" rtl="0" algn="l">
              <a:spcBef>
                <a:spcPts val="1200"/>
              </a:spcBef>
              <a:spcAft>
                <a:spcPts val="1200"/>
              </a:spcAft>
              <a:buNone/>
            </a:pPr>
            <a:r>
              <a:t/>
            </a:r>
            <a:endParaRPr sz="1000">
              <a:solidFill>
                <a:schemeClr val="dk1"/>
              </a:solidFill>
            </a:endParaRPr>
          </a:p>
        </p:txBody>
      </p:sp>
      <p:pic>
        <p:nvPicPr>
          <p:cNvPr id="188" name="Google Shape;188;p31" title="Screenshot 2025-12-04 at 5.34.40 am.png"/>
          <p:cNvPicPr preferRelativeResize="0"/>
          <p:nvPr/>
        </p:nvPicPr>
        <p:blipFill>
          <a:blip r:embed="rId3">
            <a:alphaModFix/>
          </a:blip>
          <a:stretch>
            <a:fillRect/>
          </a:stretch>
        </p:blipFill>
        <p:spPr>
          <a:xfrm>
            <a:off x="266800" y="1848950"/>
            <a:ext cx="3135152" cy="2095250"/>
          </a:xfrm>
          <a:prstGeom prst="rect">
            <a:avLst/>
          </a:prstGeom>
          <a:noFill/>
          <a:ln>
            <a:noFill/>
          </a:ln>
        </p:spPr>
      </p:pic>
      <p:sp>
        <p:nvSpPr>
          <p:cNvPr id="189" name="Google Shape;189;p31"/>
          <p:cNvSpPr txBox="1"/>
          <p:nvPr>
            <p:ph idx="1" type="body"/>
          </p:nvPr>
        </p:nvSpPr>
        <p:spPr>
          <a:xfrm>
            <a:off x="3761950" y="173225"/>
            <a:ext cx="4475100" cy="4395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sz="1000">
                <a:solidFill>
                  <a:schemeClr val="dk1"/>
                </a:solidFill>
              </a:rPr>
              <a:t>Retriver setup : </a:t>
            </a:r>
            <a:endParaRPr sz="1000">
              <a:solidFill>
                <a:schemeClr val="dk1"/>
              </a:solidFill>
            </a:endParaRPr>
          </a:p>
          <a:p>
            <a:pPr indent="0" lvl="0" marL="0" rtl="0" algn="l">
              <a:spcBef>
                <a:spcPts val="1200"/>
              </a:spcBef>
              <a:spcAft>
                <a:spcPts val="0"/>
              </a:spcAft>
              <a:buClr>
                <a:schemeClr val="dk1"/>
              </a:buClr>
              <a:buSzPts val="1100"/>
              <a:buFont typeface="Arial"/>
              <a:buNone/>
            </a:pPr>
            <a:r>
              <a:rPr lang="en" sz="1000">
                <a:solidFill>
                  <a:schemeClr val="dk1"/>
                </a:solidFill>
              </a:rPr>
              <a:t>cd retrieval_lm</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wget https://dl.fbaipublicfiles.com/dpr/wikipedia_split/psgs_w100.tsv.gz</a:t>
            </a:r>
            <a:endParaRPr sz="1000">
              <a:solidFill>
                <a:schemeClr val="dk1"/>
              </a:solidFill>
            </a:endParaRPr>
          </a:p>
          <a:p>
            <a:pPr indent="0" lvl="0" marL="0" rtl="0" algn="l">
              <a:spcBef>
                <a:spcPts val="0"/>
              </a:spcBef>
              <a:spcAft>
                <a:spcPts val="0"/>
              </a:spcAft>
              <a:buNone/>
            </a:pPr>
            <a:r>
              <a:rPr lang="en" sz="1000">
                <a:solidFill>
                  <a:schemeClr val="dk1"/>
                </a:solidFill>
              </a:rPr>
              <a:t>And run : cd retrieval_lm</a:t>
            </a:r>
            <a:endParaRPr sz="1000">
              <a:solidFill>
                <a:schemeClr val="dk1"/>
              </a:solidFill>
            </a:endParaRPr>
          </a:p>
          <a:p>
            <a:pPr indent="0" lvl="0" marL="0" rtl="0" algn="l">
              <a:spcBef>
                <a:spcPts val="1200"/>
              </a:spcBef>
              <a:spcAft>
                <a:spcPts val="0"/>
              </a:spcAft>
              <a:buClr>
                <a:schemeClr val="dk1"/>
              </a:buClr>
              <a:buSzPts val="1100"/>
              <a:buFont typeface="Arial"/>
              <a:buNone/>
            </a:pPr>
            <a:r>
              <a:rPr lang="en" sz="1000">
                <a:solidFill>
                  <a:schemeClr val="dk1"/>
                </a:solidFill>
              </a:rPr>
              <a:t>python passage_retrieval.py \</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    --model_name_or_path facebook/contriever-msmarco --passages psgs_w100.tsv \</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    --passages_embeddings "wikipedia_embeddings/*" \</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    --data YOUR_INPUT_FILE  \</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    --output_dir YOUR_OUTPUT_FILE \</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    --n_docs 20</a:t>
            </a:r>
            <a:endParaRPr sz="1000">
              <a:solidFill>
                <a:schemeClr val="dk1"/>
              </a:solidFill>
            </a:endParaRPr>
          </a:p>
          <a:p>
            <a:pPr indent="0" lvl="0" marL="0" rtl="0" algn="l">
              <a:lnSpc>
                <a:spcPct val="125000"/>
              </a:lnSpc>
              <a:spcBef>
                <a:spcPts val="1400"/>
              </a:spcBef>
              <a:spcAft>
                <a:spcPts val="0"/>
              </a:spcAft>
              <a:buNone/>
            </a:pPr>
            <a:r>
              <a:rPr lang="en" sz="950">
                <a:solidFill>
                  <a:schemeClr val="dk1"/>
                </a:solidFill>
              </a:rPr>
              <a:t>Generate embeddings for your own data: </a:t>
            </a:r>
            <a:endParaRPr sz="950">
              <a:solidFill>
                <a:schemeClr val="dk1"/>
              </a:solidFill>
            </a:endParaRPr>
          </a:p>
          <a:p>
            <a:pPr indent="0" lvl="0" marL="0" rtl="0" algn="l">
              <a:spcBef>
                <a:spcPts val="400"/>
              </a:spcBef>
              <a:spcAft>
                <a:spcPts val="0"/>
              </a:spcAft>
              <a:buNone/>
            </a:pPr>
            <a:r>
              <a:rPr lang="en" sz="950">
                <a:solidFill>
                  <a:schemeClr val="dk1"/>
                </a:solidFill>
              </a:rPr>
              <a:t>cd retrieval_lm</a:t>
            </a:r>
            <a:endParaRPr sz="950">
              <a:solidFill>
                <a:schemeClr val="dk1"/>
              </a:solidFill>
            </a:endParaRPr>
          </a:p>
          <a:p>
            <a:pPr indent="0" lvl="0" marL="0" rtl="0" algn="l">
              <a:spcBef>
                <a:spcPts val="0"/>
              </a:spcBef>
              <a:spcAft>
                <a:spcPts val="0"/>
              </a:spcAft>
              <a:buNone/>
            </a:pPr>
            <a:r>
              <a:rPr lang="en" sz="950">
                <a:solidFill>
                  <a:schemeClr val="dk1"/>
                </a:solidFill>
              </a:rPr>
              <a:t>for i in {0..3}; do</a:t>
            </a:r>
            <a:endParaRPr sz="950">
              <a:solidFill>
                <a:schemeClr val="dk1"/>
              </a:solidFill>
            </a:endParaRPr>
          </a:p>
          <a:p>
            <a:pPr indent="0" lvl="0" marL="0" rtl="0" algn="l">
              <a:spcBef>
                <a:spcPts val="0"/>
              </a:spcBef>
              <a:spcAft>
                <a:spcPts val="0"/>
              </a:spcAft>
              <a:buNone/>
            </a:pPr>
            <a:r>
              <a:rPr lang="en" sz="950">
                <a:solidFill>
                  <a:schemeClr val="dk1"/>
                </a:solidFill>
              </a:rPr>
              <a:t>  export CUDA_VISIBLE_DEVICES=${i}</a:t>
            </a:r>
            <a:endParaRPr sz="950">
              <a:solidFill>
                <a:schemeClr val="dk1"/>
              </a:solidFill>
            </a:endParaRPr>
          </a:p>
          <a:p>
            <a:pPr indent="0" lvl="0" marL="0" rtl="0" algn="l">
              <a:spcBef>
                <a:spcPts val="0"/>
              </a:spcBef>
              <a:spcAft>
                <a:spcPts val="0"/>
              </a:spcAft>
              <a:buNone/>
            </a:pPr>
            <a:r>
              <a:rPr lang="en" sz="950">
                <a:solidFill>
                  <a:schemeClr val="dk1"/>
                </a:solidFill>
              </a:rPr>
              <a:t>  python generate_passage_embeddings.py  --model_name_or_path facebook/contriever-msmarco \</a:t>
            </a:r>
            <a:endParaRPr sz="950">
              <a:solidFill>
                <a:schemeClr val="dk1"/>
              </a:solidFill>
            </a:endParaRPr>
          </a:p>
          <a:p>
            <a:pPr indent="0" lvl="0" marL="0" rtl="0" algn="l">
              <a:spcBef>
                <a:spcPts val="0"/>
              </a:spcBef>
              <a:spcAft>
                <a:spcPts val="0"/>
              </a:spcAft>
              <a:buNone/>
            </a:pPr>
            <a:r>
              <a:rPr lang="en" sz="950">
                <a:solidFill>
                  <a:schemeClr val="dk1"/>
                </a:solidFill>
              </a:rPr>
              <a:t>  --output_dir YOUR_OUTPUT_DIR \</a:t>
            </a:r>
            <a:endParaRPr sz="950">
              <a:solidFill>
                <a:schemeClr val="dk1"/>
              </a:solidFill>
            </a:endParaRPr>
          </a:p>
          <a:p>
            <a:pPr indent="0" lvl="0" marL="0" rtl="0" algn="l">
              <a:spcBef>
                <a:spcPts val="0"/>
              </a:spcBef>
              <a:spcAft>
                <a:spcPts val="0"/>
              </a:spcAft>
              <a:buNone/>
            </a:pPr>
            <a:r>
              <a:rPr lang="en" sz="950">
                <a:solidFill>
                  <a:schemeClr val="dk1"/>
                </a:solidFill>
              </a:rPr>
              <a:t>  --passages YOUR_PASSAGE_DATA --shard_id ${i}  --num_shards 4 &gt; ./log/nohup.my_embeddings.${i} 2&gt;&amp;1 &amp;</a:t>
            </a:r>
            <a:endParaRPr sz="950">
              <a:solidFill>
                <a:schemeClr val="dk1"/>
              </a:solidFill>
            </a:endParaRPr>
          </a:p>
          <a:p>
            <a:pPr indent="0" lvl="0" marL="0" rtl="0" algn="l">
              <a:lnSpc>
                <a:spcPct val="125000"/>
              </a:lnSpc>
              <a:spcBef>
                <a:spcPts val="1400"/>
              </a:spcBef>
              <a:spcAft>
                <a:spcPts val="0"/>
              </a:spcAft>
              <a:buClr>
                <a:schemeClr val="dk1"/>
              </a:buClr>
              <a:buSzPts val="1100"/>
              <a:buFont typeface="Arial"/>
              <a:buNone/>
            </a:pPr>
            <a:r>
              <a:t/>
            </a:r>
            <a:endParaRPr sz="950">
              <a:solidFill>
                <a:schemeClr val="dk1"/>
              </a:solidFill>
            </a:endParaRPr>
          </a:p>
          <a:p>
            <a:pPr indent="0" lvl="0" marL="0" rtl="0" algn="l">
              <a:spcBef>
                <a:spcPts val="400"/>
              </a:spcBef>
              <a:spcAft>
                <a:spcPts val="1200"/>
              </a:spcAft>
              <a:buNone/>
            </a:pPr>
            <a:r>
              <a:t/>
            </a:r>
            <a:endParaRPr sz="10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2"/>
          <p:cNvSpPr txBox="1"/>
          <p:nvPr>
            <p:ph type="title"/>
          </p:nvPr>
        </p:nvSpPr>
        <p:spPr>
          <a:xfrm>
            <a:off x="311700" y="445025"/>
            <a:ext cx="3463800" cy="572700"/>
          </a:xfrm>
          <a:prstGeom prst="rect">
            <a:avLst/>
          </a:prstGeom>
        </p:spPr>
        <p:txBody>
          <a:bodyPr anchorCtr="0" anchor="t" bIns="91425" lIns="91425" spcFirstLastPara="1" rIns="91425" wrap="square" tIns="91425">
            <a:noAutofit/>
          </a:bodyPr>
          <a:lstStyle/>
          <a:p>
            <a:pPr indent="0" lvl="0" marL="0" rtl="0" algn="l">
              <a:lnSpc>
                <a:spcPct val="125000"/>
              </a:lnSpc>
              <a:spcBef>
                <a:spcPts val="1400"/>
              </a:spcBef>
              <a:spcAft>
                <a:spcPts val="0"/>
              </a:spcAft>
              <a:buClr>
                <a:schemeClr val="dk1"/>
              </a:buClr>
              <a:buSzPts val="990"/>
              <a:buFont typeface="Arial"/>
              <a:buNone/>
            </a:pPr>
            <a:r>
              <a:rPr lang="en" sz="975"/>
              <a:t>Critic training</a:t>
            </a:r>
            <a:endParaRPr sz="975"/>
          </a:p>
          <a:p>
            <a:pPr indent="0" lvl="0" marL="0" rtl="0" algn="l">
              <a:lnSpc>
                <a:spcPct val="115000"/>
              </a:lnSpc>
              <a:spcBef>
                <a:spcPts val="400"/>
              </a:spcBef>
              <a:spcAft>
                <a:spcPts val="0"/>
              </a:spcAft>
              <a:buClr>
                <a:schemeClr val="dk1"/>
              </a:buClr>
              <a:buSzPts val="990"/>
              <a:buFont typeface="Arial"/>
              <a:buNone/>
            </a:pPr>
            <a:r>
              <a:t/>
            </a:r>
            <a:endParaRPr sz="390"/>
          </a:p>
          <a:p>
            <a:pPr indent="0" lvl="0" marL="0" rtl="0" algn="l">
              <a:spcBef>
                <a:spcPts val="0"/>
              </a:spcBef>
              <a:spcAft>
                <a:spcPts val="0"/>
              </a:spcAft>
              <a:buSzPts val="990"/>
              <a:buNone/>
            </a:pPr>
            <a:r>
              <a:t/>
            </a:r>
            <a:endParaRPr sz="1920"/>
          </a:p>
        </p:txBody>
      </p:sp>
      <p:sp>
        <p:nvSpPr>
          <p:cNvPr id="195" name="Google Shape;195;p32"/>
          <p:cNvSpPr txBox="1"/>
          <p:nvPr>
            <p:ph idx="1" type="body"/>
          </p:nvPr>
        </p:nvSpPr>
        <p:spPr>
          <a:xfrm>
            <a:off x="311700" y="1152475"/>
            <a:ext cx="3867300" cy="3416400"/>
          </a:xfrm>
          <a:prstGeom prst="rect">
            <a:avLst/>
          </a:prstGeom>
        </p:spPr>
        <p:txBody>
          <a:bodyPr anchorCtr="0" anchor="t" bIns="91425" lIns="91425" spcFirstLastPara="1" rIns="91425" wrap="square" tIns="91425">
            <a:normAutofit fontScale="55000" lnSpcReduction="20000"/>
          </a:bodyPr>
          <a:lstStyle/>
          <a:p>
            <a:pPr indent="0" lvl="0" marL="0" rtl="0" algn="l">
              <a:spcBef>
                <a:spcPts val="0"/>
              </a:spcBef>
              <a:spcAft>
                <a:spcPts val="0"/>
              </a:spcAft>
              <a:buClr>
                <a:schemeClr val="dk1"/>
              </a:buClr>
              <a:buSzPct val="61111"/>
              <a:buFont typeface="Arial"/>
              <a:buNone/>
            </a:pPr>
            <a:r>
              <a:rPr lang="en">
                <a:solidFill>
                  <a:schemeClr val="dk1"/>
                </a:solidFill>
              </a:rPr>
              <a:t>cd data_creation</a:t>
            </a:r>
            <a:endParaRPr>
              <a:solidFill>
                <a:schemeClr val="dk1"/>
              </a:solidFill>
            </a:endParaRPr>
          </a:p>
          <a:p>
            <a:pPr indent="0" lvl="0" marL="0" rtl="0" algn="l">
              <a:spcBef>
                <a:spcPts val="0"/>
              </a:spcBef>
              <a:spcAft>
                <a:spcPts val="0"/>
              </a:spcAft>
              <a:buClr>
                <a:schemeClr val="dk1"/>
              </a:buClr>
              <a:buSzPct val="61111"/>
              <a:buFont typeface="Arial"/>
              <a:buNone/>
            </a:pPr>
            <a:r>
              <a:rPr lang="en">
                <a:solidFill>
                  <a:schemeClr val="dk1"/>
                </a:solidFill>
              </a:rPr>
              <a:t>torchrun --nproc_per_node=2 \</a:t>
            </a:r>
            <a:endParaRPr>
              <a:solidFill>
                <a:schemeClr val="dk1"/>
              </a:solidFill>
            </a:endParaRPr>
          </a:p>
          <a:p>
            <a:pPr indent="0" lvl="0" marL="0" rtl="0" algn="l">
              <a:spcBef>
                <a:spcPts val="0"/>
              </a:spcBef>
              <a:spcAft>
                <a:spcPts val="0"/>
              </a:spcAft>
              <a:buClr>
                <a:schemeClr val="dk1"/>
              </a:buClr>
              <a:buSzPct val="61111"/>
              <a:buFont typeface="Arial"/>
              <a:buNone/>
            </a:pPr>
            <a:r>
              <a:rPr lang="en">
                <a:solidFill>
                  <a:schemeClr val="dk1"/>
                </a:solidFill>
              </a:rPr>
              <a:t>  --master_port=2568 train_special_tokens.py \</a:t>
            </a:r>
            <a:endParaRPr>
              <a:solidFill>
                <a:schemeClr val="dk1"/>
              </a:solidFill>
            </a:endParaRPr>
          </a:p>
          <a:p>
            <a:pPr indent="0" lvl="0" marL="0" rtl="0" algn="l">
              <a:spcBef>
                <a:spcPts val="0"/>
              </a:spcBef>
              <a:spcAft>
                <a:spcPts val="0"/>
              </a:spcAft>
              <a:buClr>
                <a:schemeClr val="dk1"/>
              </a:buClr>
              <a:buSzPct val="61111"/>
              <a:buFont typeface="Arial"/>
              <a:buNone/>
            </a:pPr>
            <a:r>
              <a:rPr lang="en">
                <a:solidFill>
                  <a:schemeClr val="dk1"/>
                </a:solidFill>
              </a:rPr>
              <a:t>  --model_name_or_path meta-llama/Llama-2-7b-hf \</a:t>
            </a:r>
            <a:endParaRPr>
              <a:solidFill>
                <a:schemeClr val="dk1"/>
              </a:solidFill>
            </a:endParaRPr>
          </a:p>
          <a:p>
            <a:pPr indent="0" lvl="0" marL="0" rtl="0" algn="l">
              <a:spcBef>
                <a:spcPts val="0"/>
              </a:spcBef>
              <a:spcAft>
                <a:spcPts val="0"/>
              </a:spcAft>
              <a:buClr>
                <a:schemeClr val="dk1"/>
              </a:buClr>
              <a:buSzPct val="61111"/>
              <a:buFont typeface="Arial"/>
              <a:buNone/>
            </a:pPr>
            <a:r>
              <a:rPr lang="en">
                <a:solidFill>
                  <a:schemeClr val="dk1"/>
                </a:solidFill>
              </a:rPr>
              <a:t>  --data_path PATH_TO_TRAIN_DATA_FILE \</a:t>
            </a:r>
            <a:endParaRPr>
              <a:solidFill>
                <a:schemeClr val="dk1"/>
              </a:solidFill>
            </a:endParaRPr>
          </a:p>
          <a:p>
            <a:pPr indent="0" lvl="0" marL="0" rtl="0" algn="l">
              <a:spcBef>
                <a:spcPts val="0"/>
              </a:spcBef>
              <a:spcAft>
                <a:spcPts val="0"/>
              </a:spcAft>
              <a:buClr>
                <a:schemeClr val="dk1"/>
              </a:buClr>
              <a:buSzPct val="61111"/>
              <a:buFont typeface="Arial"/>
              <a:buNone/>
            </a:pPr>
            <a:r>
              <a:rPr lang="en">
                <a:solidFill>
                  <a:schemeClr val="dk1"/>
                </a:solidFill>
              </a:rPr>
              <a:t>  --bf16  True \</a:t>
            </a:r>
            <a:endParaRPr>
              <a:solidFill>
                <a:schemeClr val="dk1"/>
              </a:solidFill>
            </a:endParaRPr>
          </a:p>
          <a:p>
            <a:pPr indent="0" lvl="0" marL="0" rtl="0" algn="l">
              <a:spcBef>
                <a:spcPts val="0"/>
              </a:spcBef>
              <a:spcAft>
                <a:spcPts val="0"/>
              </a:spcAft>
              <a:buClr>
                <a:schemeClr val="dk1"/>
              </a:buClr>
              <a:buSzPct val="61111"/>
              <a:buFont typeface="Arial"/>
              <a:buNone/>
            </a:pPr>
            <a:r>
              <a:rPr lang="en">
                <a:solidFill>
                  <a:schemeClr val="dk1"/>
                </a:solidFill>
              </a:rPr>
              <a:t>  --output_dir PATH_TO_CRITIC_MODEL \</a:t>
            </a:r>
            <a:endParaRPr>
              <a:solidFill>
                <a:schemeClr val="dk1"/>
              </a:solidFill>
            </a:endParaRPr>
          </a:p>
          <a:p>
            <a:pPr indent="0" lvl="0" marL="0" rtl="0" algn="l">
              <a:spcBef>
                <a:spcPts val="0"/>
              </a:spcBef>
              <a:spcAft>
                <a:spcPts val="0"/>
              </a:spcAft>
              <a:buClr>
                <a:schemeClr val="dk1"/>
              </a:buClr>
              <a:buSzPct val="61111"/>
              <a:buFont typeface="Arial"/>
              <a:buNone/>
            </a:pPr>
            <a:r>
              <a:rPr lang="en">
                <a:solidFill>
                  <a:schemeClr val="dk1"/>
                </a:solidFill>
              </a:rPr>
              <a:t>  --num_train_epochs 3  \</a:t>
            </a:r>
            <a:endParaRPr>
              <a:solidFill>
                <a:schemeClr val="dk1"/>
              </a:solidFill>
            </a:endParaRPr>
          </a:p>
          <a:p>
            <a:pPr indent="0" lvl="0" marL="0" rtl="0" algn="l">
              <a:spcBef>
                <a:spcPts val="0"/>
              </a:spcBef>
              <a:spcAft>
                <a:spcPts val="0"/>
              </a:spcAft>
              <a:buClr>
                <a:schemeClr val="dk1"/>
              </a:buClr>
              <a:buSzPct val="61111"/>
              <a:buFont typeface="Arial"/>
              <a:buNone/>
            </a:pPr>
            <a:r>
              <a:rPr lang="en">
                <a:solidFill>
                  <a:schemeClr val="dk1"/>
                </a:solidFill>
              </a:rPr>
              <a:t>  --per_device_train_batch_size 1 --per_device_eval_batch_size 1 \</a:t>
            </a:r>
            <a:endParaRPr>
              <a:solidFill>
                <a:schemeClr val="dk1"/>
              </a:solidFill>
            </a:endParaRPr>
          </a:p>
          <a:p>
            <a:pPr indent="0" lvl="0" marL="0" rtl="0" algn="l">
              <a:spcBef>
                <a:spcPts val="0"/>
              </a:spcBef>
              <a:spcAft>
                <a:spcPts val="0"/>
              </a:spcAft>
              <a:buClr>
                <a:schemeClr val="dk1"/>
              </a:buClr>
              <a:buSzPct val="61111"/>
              <a:buFont typeface="Arial"/>
              <a:buNone/>
            </a:pPr>
            <a:r>
              <a:rPr lang="en">
                <a:solidFill>
                  <a:schemeClr val="dk1"/>
                </a:solidFill>
              </a:rPr>
              <a:t>  --gradient_accumulation_steps 8 \</a:t>
            </a:r>
            <a:endParaRPr>
              <a:solidFill>
                <a:schemeClr val="dk1"/>
              </a:solidFill>
            </a:endParaRPr>
          </a:p>
          <a:p>
            <a:pPr indent="0" lvl="0" marL="0" rtl="0" algn="l">
              <a:spcBef>
                <a:spcPts val="0"/>
              </a:spcBef>
              <a:spcAft>
                <a:spcPts val="0"/>
              </a:spcAft>
              <a:buClr>
                <a:schemeClr val="dk1"/>
              </a:buClr>
              <a:buSzPct val="61111"/>
              <a:buFont typeface="Arial"/>
              <a:buNone/>
            </a:pPr>
            <a:r>
              <a:rPr lang="en">
                <a:solidFill>
                  <a:schemeClr val="dk1"/>
                </a:solidFill>
              </a:rPr>
              <a:t>  --evaluation_strategy "no" \</a:t>
            </a:r>
            <a:endParaRPr>
              <a:solidFill>
                <a:schemeClr val="dk1"/>
              </a:solidFill>
            </a:endParaRPr>
          </a:p>
          <a:p>
            <a:pPr indent="0" lvl="0" marL="0" rtl="0" algn="l">
              <a:spcBef>
                <a:spcPts val="0"/>
              </a:spcBef>
              <a:spcAft>
                <a:spcPts val="0"/>
              </a:spcAft>
              <a:buClr>
                <a:schemeClr val="dk1"/>
              </a:buClr>
              <a:buSzPct val="61111"/>
              <a:buFont typeface="Arial"/>
              <a:buNone/>
            </a:pPr>
            <a:r>
              <a:rPr lang="en">
                <a:solidFill>
                  <a:schemeClr val="dk1"/>
                </a:solidFill>
              </a:rPr>
              <a:t>  --save_strategy "steps" \</a:t>
            </a:r>
            <a:endParaRPr>
              <a:solidFill>
                <a:schemeClr val="dk1"/>
              </a:solidFill>
            </a:endParaRPr>
          </a:p>
          <a:p>
            <a:pPr indent="0" lvl="0" marL="0" rtl="0" algn="l">
              <a:spcBef>
                <a:spcPts val="0"/>
              </a:spcBef>
              <a:spcAft>
                <a:spcPts val="0"/>
              </a:spcAft>
              <a:buClr>
                <a:schemeClr val="dk1"/>
              </a:buClr>
              <a:buSzPct val="61111"/>
              <a:buFont typeface="Arial"/>
              <a:buNone/>
            </a:pPr>
            <a:r>
              <a:rPr lang="en">
                <a:solidFill>
                  <a:schemeClr val="dk1"/>
                </a:solidFill>
              </a:rPr>
              <a:t>  --save_steps 300 \</a:t>
            </a:r>
            <a:endParaRPr>
              <a:solidFill>
                <a:schemeClr val="dk1"/>
              </a:solidFill>
            </a:endParaRPr>
          </a:p>
          <a:p>
            <a:pPr indent="0" lvl="0" marL="0" rtl="0" algn="l">
              <a:spcBef>
                <a:spcPts val="0"/>
              </a:spcBef>
              <a:spcAft>
                <a:spcPts val="0"/>
              </a:spcAft>
              <a:buClr>
                <a:schemeClr val="dk1"/>
              </a:buClr>
              <a:buSzPct val="61111"/>
              <a:buFont typeface="Arial"/>
              <a:buNone/>
            </a:pPr>
            <a:r>
              <a:rPr lang="en">
                <a:solidFill>
                  <a:schemeClr val="dk1"/>
                </a:solidFill>
              </a:rPr>
              <a:t>  --save_total_limit 1 \</a:t>
            </a:r>
            <a:endParaRPr>
              <a:solidFill>
                <a:schemeClr val="dk1"/>
              </a:solidFill>
            </a:endParaRPr>
          </a:p>
          <a:p>
            <a:pPr indent="0" lvl="0" marL="0" rtl="0" algn="l">
              <a:spcBef>
                <a:spcPts val="0"/>
              </a:spcBef>
              <a:spcAft>
                <a:spcPts val="0"/>
              </a:spcAft>
              <a:buClr>
                <a:schemeClr val="dk1"/>
              </a:buClr>
              <a:buSzPct val="61111"/>
              <a:buFont typeface="Arial"/>
              <a:buNone/>
            </a:pPr>
            <a:r>
              <a:rPr lang="en">
                <a:solidFill>
                  <a:schemeClr val="dk1"/>
                </a:solidFill>
              </a:rPr>
              <a:t>  --learning_rate 2e-5 \</a:t>
            </a:r>
            <a:endParaRPr>
              <a:solidFill>
                <a:schemeClr val="dk1"/>
              </a:solidFill>
            </a:endParaRPr>
          </a:p>
          <a:p>
            <a:pPr indent="0" lvl="0" marL="0" rtl="0" algn="l">
              <a:spcBef>
                <a:spcPts val="0"/>
              </a:spcBef>
              <a:spcAft>
                <a:spcPts val="0"/>
              </a:spcAft>
              <a:buClr>
                <a:schemeClr val="dk1"/>
              </a:buClr>
              <a:buSzPct val="61111"/>
              <a:buFont typeface="Arial"/>
              <a:buNone/>
            </a:pPr>
            <a:r>
              <a:rPr lang="en">
                <a:solidFill>
                  <a:schemeClr val="dk1"/>
                </a:solidFill>
              </a:rPr>
              <a:t>  --weight_decay 0. \</a:t>
            </a:r>
            <a:endParaRPr>
              <a:solidFill>
                <a:schemeClr val="dk1"/>
              </a:solidFill>
            </a:endParaRPr>
          </a:p>
          <a:p>
            <a:pPr indent="0" lvl="0" marL="0" rtl="0" algn="l">
              <a:spcBef>
                <a:spcPts val="0"/>
              </a:spcBef>
              <a:spcAft>
                <a:spcPts val="0"/>
              </a:spcAft>
              <a:buClr>
                <a:schemeClr val="dk1"/>
              </a:buClr>
              <a:buSzPct val="61111"/>
              <a:buFont typeface="Arial"/>
              <a:buNone/>
            </a:pPr>
            <a:r>
              <a:rPr lang="en">
                <a:solidFill>
                  <a:schemeClr val="dk1"/>
                </a:solidFill>
              </a:rPr>
              <a:t>  --warmup_ratio 0.01 \</a:t>
            </a:r>
            <a:endParaRPr>
              <a:solidFill>
                <a:schemeClr val="dk1"/>
              </a:solidFill>
            </a:endParaRPr>
          </a:p>
          <a:p>
            <a:pPr indent="0" lvl="0" marL="0" rtl="0" algn="l">
              <a:spcBef>
                <a:spcPts val="0"/>
              </a:spcBef>
              <a:spcAft>
                <a:spcPts val="0"/>
              </a:spcAft>
              <a:buClr>
                <a:schemeClr val="dk1"/>
              </a:buClr>
              <a:buSzPct val="61111"/>
              <a:buFont typeface="Arial"/>
              <a:buNone/>
            </a:pPr>
            <a:r>
              <a:rPr lang="en">
                <a:solidFill>
                  <a:schemeClr val="dk1"/>
                </a:solidFill>
              </a:rPr>
              <a:t>  --lr_scheduler_type "cosine" \</a:t>
            </a:r>
            <a:endParaRPr>
              <a:solidFill>
                <a:schemeClr val="dk1"/>
              </a:solidFill>
            </a:endParaRPr>
          </a:p>
          <a:p>
            <a:pPr indent="0" lvl="0" marL="0" rtl="0" algn="l">
              <a:spcBef>
                <a:spcPts val="0"/>
              </a:spcBef>
              <a:spcAft>
                <a:spcPts val="0"/>
              </a:spcAft>
              <a:buClr>
                <a:schemeClr val="dk1"/>
              </a:buClr>
              <a:buSzPct val="61111"/>
              <a:buFont typeface="Arial"/>
              <a:buNone/>
            </a:pPr>
            <a:r>
              <a:rPr lang="en">
                <a:solidFill>
                  <a:schemeClr val="dk1"/>
                </a:solidFill>
              </a:rPr>
              <a:t>  --logging_steps 10 \</a:t>
            </a:r>
            <a:endParaRPr>
              <a:solidFill>
                <a:schemeClr val="dk1"/>
              </a:solidFill>
            </a:endParaRPr>
          </a:p>
          <a:p>
            <a:pPr indent="0" lvl="0" marL="0" rtl="0" algn="l">
              <a:spcBef>
                <a:spcPts val="0"/>
              </a:spcBef>
              <a:spcAft>
                <a:spcPts val="0"/>
              </a:spcAft>
              <a:buClr>
                <a:schemeClr val="dk1"/>
              </a:buClr>
              <a:buSzPct val="61111"/>
              <a:buFont typeface="Arial"/>
              <a:buNone/>
            </a:pPr>
            <a:r>
              <a:rPr lang="en">
                <a:solidFill>
                  <a:schemeClr val="dk1"/>
                </a:solidFill>
              </a:rPr>
              <a:t>  --fsdp "full_shard auto_wrap"</a:t>
            </a:r>
            <a:endParaRPr>
              <a:solidFill>
                <a:schemeClr val="dk1"/>
              </a:solidFill>
            </a:endParaRPr>
          </a:p>
          <a:p>
            <a:pPr indent="0" lvl="0" marL="0" rtl="0" algn="l">
              <a:spcBef>
                <a:spcPts val="0"/>
              </a:spcBef>
              <a:spcAft>
                <a:spcPts val="1200"/>
              </a:spcAft>
              <a:buNone/>
            </a:pPr>
            <a:r>
              <a:t/>
            </a:r>
            <a:endParaRPr>
              <a:solidFill>
                <a:schemeClr val="dk1"/>
              </a:solidFill>
            </a:endParaRPr>
          </a:p>
        </p:txBody>
      </p:sp>
      <p:sp>
        <p:nvSpPr>
          <p:cNvPr id="196" name="Google Shape;196;p32"/>
          <p:cNvSpPr txBox="1"/>
          <p:nvPr>
            <p:ph idx="1" type="body"/>
          </p:nvPr>
        </p:nvSpPr>
        <p:spPr>
          <a:xfrm>
            <a:off x="4254325" y="173300"/>
            <a:ext cx="4637400" cy="4876800"/>
          </a:xfrm>
          <a:prstGeom prst="rect">
            <a:avLst/>
          </a:prstGeom>
        </p:spPr>
        <p:txBody>
          <a:bodyPr anchorCtr="0" anchor="t" bIns="91425" lIns="91425" spcFirstLastPara="1" rIns="91425" wrap="square" tIns="91425">
            <a:normAutofit/>
          </a:bodyPr>
          <a:lstStyle/>
          <a:p>
            <a:pPr indent="0" lvl="0" marL="0" rtl="0" algn="l">
              <a:lnSpc>
                <a:spcPct val="125000"/>
              </a:lnSpc>
              <a:spcBef>
                <a:spcPts val="1400"/>
              </a:spcBef>
              <a:spcAft>
                <a:spcPts val="0"/>
              </a:spcAft>
              <a:buNone/>
            </a:pPr>
            <a:r>
              <a:rPr lang="en" sz="950">
                <a:solidFill>
                  <a:schemeClr val="dk1"/>
                </a:solidFill>
              </a:rPr>
              <a:t>Generator Training: cd retrieval_lm</a:t>
            </a:r>
            <a:endParaRPr sz="950">
              <a:solidFill>
                <a:schemeClr val="dk1"/>
              </a:solidFill>
            </a:endParaRPr>
          </a:p>
          <a:p>
            <a:pPr indent="0" lvl="0" marL="0" rtl="0" algn="l">
              <a:spcBef>
                <a:spcPts val="400"/>
              </a:spcBef>
              <a:spcAft>
                <a:spcPts val="0"/>
              </a:spcAft>
              <a:buNone/>
            </a:pPr>
            <a:r>
              <a:rPr lang="en" sz="950">
                <a:solidFill>
                  <a:schemeClr val="dk1"/>
                </a:solidFill>
              </a:rPr>
              <a:t>bash script_finetune_7b.sh</a:t>
            </a:r>
            <a:endParaRPr sz="950">
              <a:solidFill>
                <a:schemeClr val="dk1"/>
              </a:solidFill>
            </a:endParaRPr>
          </a:p>
          <a:p>
            <a:pPr indent="0" lvl="0" marL="0" rtl="0" algn="l">
              <a:lnSpc>
                <a:spcPct val="125000"/>
              </a:lnSpc>
              <a:spcBef>
                <a:spcPts val="1200"/>
              </a:spcBef>
              <a:spcAft>
                <a:spcPts val="0"/>
              </a:spcAft>
              <a:buNone/>
            </a:pPr>
            <a:r>
              <a:rPr lang="en" sz="900">
                <a:solidFill>
                  <a:schemeClr val="dk1"/>
                </a:solidFill>
              </a:rPr>
              <a:t>Question Answering :</a:t>
            </a:r>
            <a:endParaRPr sz="900">
              <a:solidFill>
                <a:schemeClr val="dk1"/>
              </a:solidFill>
            </a:endParaRPr>
          </a:p>
          <a:p>
            <a:pPr indent="0" lvl="0" marL="0" rtl="0" algn="l">
              <a:spcBef>
                <a:spcPts val="200"/>
              </a:spcBef>
              <a:spcAft>
                <a:spcPts val="0"/>
              </a:spcAft>
              <a:buNone/>
            </a:pPr>
            <a:r>
              <a:rPr lang="en" sz="900">
                <a:solidFill>
                  <a:schemeClr val="dk1"/>
                </a:solidFill>
              </a:rPr>
              <a:t>python run_short_form.py \</a:t>
            </a:r>
            <a:endParaRPr sz="900">
              <a:solidFill>
                <a:schemeClr val="dk1"/>
              </a:solidFill>
            </a:endParaRPr>
          </a:p>
          <a:p>
            <a:pPr indent="0" lvl="0" marL="0" rtl="0" algn="l">
              <a:spcBef>
                <a:spcPts val="0"/>
              </a:spcBef>
              <a:spcAft>
                <a:spcPts val="0"/>
              </a:spcAft>
              <a:buNone/>
            </a:pPr>
            <a:r>
              <a:rPr lang="en" sz="900">
                <a:solidFill>
                  <a:schemeClr val="dk1"/>
                </a:solidFill>
              </a:rPr>
              <a:t>--model_name selfrag/selfrag_llama2_7b \</a:t>
            </a:r>
            <a:endParaRPr sz="900">
              <a:solidFill>
                <a:schemeClr val="dk1"/>
              </a:solidFill>
            </a:endParaRPr>
          </a:p>
          <a:p>
            <a:pPr indent="0" lvl="0" marL="0" rtl="0" algn="l">
              <a:spcBef>
                <a:spcPts val="0"/>
              </a:spcBef>
              <a:spcAft>
                <a:spcPts val="0"/>
              </a:spcAft>
              <a:buNone/>
            </a:pPr>
            <a:r>
              <a:rPr lang="en" sz="900">
                <a:solidFill>
                  <a:schemeClr val="dk1"/>
                </a:solidFill>
              </a:rPr>
              <a:t>--input_file eval_data/popqa_longtail_w_gs.jsonl \</a:t>
            </a:r>
            <a:endParaRPr sz="900">
              <a:solidFill>
                <a:schemeClr val="dk1"/>
              </a:solidFill>
            </a:endParaRPr>
          </a:p>
          <a:p>
            <a:pPr indent="0" lvl="0" marL="0" rtl="0" algn="l">
              <a:spcBef>
                <a:spcPts val="0"/>
              </a:spcBef>
              <a:spcAft>
                <a:spcPts val="0"/>
              </a:spcAft>
              <a:buNone/>
            </a:pPr>
            <a:r>
              <a:rPr lang="en" sz="900">
                <a:solidFill>
                  <a:schemeClr val="dk1"/>
                </a:solidFill>
              </a:rPr>
              <a:t>--mode MODE --max_new_tokens 100 \</a:t>
            </a:r>
            <a:endParaRPr sz="900">
              <a:solidFill>
                <a:schemeClr val="dk1"/>
              </a:solidFill>
            </a:endParaRPr>
          </a:p>
          <a:p>
            <a:pPr indent="0" lvl="0" marL="0" rtl="0" algn="l">
              <a:spcBef>
                <a:spcPts val="0"/>
              </a:spcBef>
              <a:spcAft>
                <a:spcPts val="0"/>
              </a:spcAft>
              <a:buNone/>
            </a:pPr>
            <a:r>
              <a:rPr lang="en" sz="900">
                <a:solidFill>
                  <a:schemeClr val="dk1"/>
                </a:solidFill>
              </a:rPr>
              <a:t>--threshold 0.2 \</a:t>
            </a:r>
            <a:endParaRPr sz="900">
              <a:solidFill>
                <a:schemeClr val="dk1"/>
              </a:solidFill>
            </a:endParaRPr>
          </a:p>
          <a:p>
            <a:pPr indent="0" lvl="0" marL="0" rtl="0" algn="l">
              <a:spcBef>
                <a:spcPts val="0"/>
              </a:spcBef>
              <a:spcAft>
                <a:spcPts val="0"/>
              </a:spcAft>
              <a:buNone/>
            </a:pPr>
            <a:r>
              <a:rPr lang="en" sz="900">
                <a:solidFill>
                  <a:schemeClr val="dk1"/>
                </a:solidFill>
              </a:rPr>
              <a:t>--output_file YOUR_OUTPUT_FILE \</a:t>
            </a:r>
            <a:endParaRPr sz="900">
              <a:solidFill>
                <a:schemeClr val="dk1"/>
              </a:solidFill>
            </a:endParaRPr>
          </a:p>
          <a:p>
            <a:pPr indent="0" lvl="0" marL="0" rtl="0" algn="l">
              <a:spcBef>
                <a:spcPts val="0"/>
              </a:spcBef>
              <a:spcAft>
                <a:spcPts val="0"/>
              </a:spcAft>
              <a:buNone/>
            </a:pPr>
            <a:r>
              <a:rPr lang="en" sz="900">
                <a:solidFill>
                  <a:schemeClr val="dk1"/>
                </a:solidFill>
              </a:rPr>
              <a:t>--metric match --ndocs 10 --use_groundness --use_utility --use_seqscore \</a:t>
            </a:r>
            <a:endParaRPr sz="900">
              <a:solidFill>
                <a:schemeClr val="dk1"/>
              </a:solidFill>
            </a:endParaRPr>
          </a:p>
          <a:p>
            <a:pPr indent="0" lvl="0" marL="0" rtl="0" algn="l">
              <a:spcBef>
                <a:spcPts val="0"/>
              </a:spcBef>
              <a:spcAft>
                <a:spcPts val="0"/>
              </a:spcAft>
              <a:buNone/>
            </a:pPr>
            <a:r>
              <a:rPr lang="en" sz="900">
                <a:solidFill>
                  <a:schemeClr val="dk1"/>
                </a:solidFill>
              </a:rPr>
              <a:t>--dtype half</a:t>
            </a:r>
            <a:endParaRPr sz="900">
              <a:solidFill>
                <a:schemeClr val="dk1"/>
              </a:solidFill>
            </a:endParaRPr>
          </a:p>
          <a:p>
            <a:pPr indent="0" lvl="0" marL="0" rtl="0" algn="l">
              <a:spcBef>
                <a:spcPts val="0"/>
              </a:spcBef>
              <a:spcAft>
                <a:spcPts val="0"/>
              </a:spcAft>
              <a:buNone/>
            </a:pPr>
            <a:r>
              <a:rPr lang="en" sz="1000">
                <a:solidFill>
                  <a:schemeClr val="dk1"/>
                </a:solidFill>
                <a:latin typeface="Roboto Mono"/>
                <a:ea typeface="Roboto Mono"/>
                <a:cs typeface="Roboto Mono"/>
                <a:sym typeface="Roboto Mono"/>
              </a:rPr>
              <a:t>mode</a:t>
            </a:r>
            <a:r>
              <a:rPr lang="en" sz="1200">
                <a:solidFill>
                  <a:schemeClr val="dk1"/>
                </a:solidFill>
              </a:rPr>
              <a:t> specifies the inference time mode among </a:t>
            </a:r>
            <a:r>
              <a:rPr lang="en" sz="1000">
                <a:solidFill>
                  <a:schemeClr val="dk1"/>
                </a:solidFill>
                <a:latin typeface="Roboto Mono"/>
                <a:ea typeface="Roboto Mono"/>
                <a:cs typeface="Roboto Mono"/>
                <a:sym typeface="Roboto Mono"/>
              </a:rPr>
              <a:t>['adaptive_retrieval', 'no_retrieval', 'always_retrieve']</a:t>
            </a:r>
            <a:r>
              <a:rPr lang="en" sz="1200">
                <a:solidFill>
                  <a:schemeClr val="dk1"/>
                </a:solidFill>
              </a:rPr>
              <a:t>.</a:t>
            </a:r>
            <a:endParaRPr sz="1200">
              <a:solidFill>
                <a:schemeClr val="dk1"/>
              </a:solidFill>
            </a:endParaRPr>
          </a:p>
          <a:p>
            <a:pPr indent="-304800" lvl="0" marL="457200" rtl="0" algn="l">
              <a:spcBef>
                <a:spcPts val="0"/>
              </a:spcBef>
              <a:spcAft>
                <a:spcPts val="0"/>
              </a:spcAft>
              <a:buClr>
                <a:schemeClr val="dk1"/>
              </a:buClr>
              <a:buSzPts val="1200"/>
              <a:buChar char="●"/>
            </a:pPr>
            <a:r>
              <a:rPr lang="en" sz="1000">
                <a:solidFill>
                  <a:schemeClr val="dk1"/>
                </a:solidFill>
                <a:latin typeface="Roboto Mono"/>
                <a:ea typeface="Roboto Mono"/>
                <a:cs typeface="Roboto Mono"/>
                <a:sym typeface="Roboto Mono"/>
              </a:rPr>
              <a:t>adaptive_retrieval</a:t>
            </a:r>
            <a:r>
              <a:rPr lang="en" sz="1200">
                <a:solidFill>
                  <a:schemeClr val="dk1"/>
                </a:solidFill>
              </a:rPr>
              <a:t> retrieves given the </a:t>
            </a:r>
            <a:r>
              <a:rPr lang="en" sz="1000">
                <a:solidFill>
                  <a:schemeClr val="dk1"/>
                </a:solidFill>
                <a:latin typeface="Roboto Mono"/>
                <a:ea typeface="Roboto Mono"/>
                <a:cs typeface="Roboto Mono"/>
                <a:sym typeface="Roboto Mono"/>
              </a:rPr>
              <a:t>threshold</a:t>
            </a:r>
            <a:r>
              <a:rPr lang="en" sz="1200">
                <a:solidFill>
                  <a:schemeClr val="dk1"/>
                </a:solidFill>
              </a:rPr>
              <a:t> or Self-RAG prediction</a:t>
            </a:r>
            <a:endParaRPr sz="1200">
              <a:solidFill>
                <a:schemeClr val="dk1"/>
              </a:solidFill>
            </a:endParaRPr>
          </a:p>
          <a:p>
            <a:pPr indent="-304800" lvl="0" marL="457200" rtl="0" algn="l">
              <a:spcBef>
                <a:spcPts val="0"/>
              </a:spcBef>
              <a:spcAft>
                <a:spcPts val="0"/>
              </a:spcAft>
              <a:buClr>
                <a:schemeClr val="dk1"/>
              </a:buClr>
              <a:buSzPts val="1200"/>
              <a:buChar char="●"/>
            </a:pPr>
            <a:r>
              <a:rPr lang="en" sz="1000">
                <a:solidFill>
                  <a:schemeClr val="dk1"/>
                </a:solidFill>
                <a:latin typeface="Roboto Mono"/>
                <a:ea typeface="Roboto Mono"/>
                <a:cs typeface="Roboto Mono"/>
                <a:sym typeface="Roboto Mono"/>
              </a:rPr>
              <a:t>no_retrieval</a:t>
            </a:r>
            <a:r>
              <a:rPr lang="en" sz="1200">
                <a:solidFill>
                  <a:schemeClr val="dk1"/>
                </a:solidFill>
              </a:rPr>
              <a:t> disables retrieval at inference time</a:t>
            </a:r>
            <a:endParaRPr sz="1200">
              <a:solidFill>
                <a:schemeClr val="dk1"/>
              </a:solidFill>
            </a:endParaRPr>
          </a:p>
          <a:p>
            <a:pPr indent="-304800" lvl="0" marL="457200" rtl="0" algn="l">
              <a:spcBef>
                <a:spcPts val="0"/>
              </a:spcBef>
              <a:spcAft>
                <a:spcPts val="0"/>
              </a:spcAft>
              <a:buClr>
                <a:schemeClr val="dk1"/>
              </a:buClr>
              <a:buSzPts val="1200"/>
              <a:buChar char="●"/>
            </a:pPr>
            <a:r>
              <a:rPr lang="en" sz="1000">
                <a:solidFill>
                  <a:schemeClr val="dk1"/>
                </a:solidFill>
                <a:latin typeface="Roboto Mono"/>
                <a:ea typeface="Roboto Mono"/>
                <a:cs typeface="Roboto Mono"/>
                <a:sym typeface="Roboto Mono"/>
              </a:rPr>
              <a:t>always_retrieve</a:t>
            </a:r>
            <a:r>
              <a:rPr lang="en" sz="1200">
                <a:solidFill>
                  <a:schemeClr val="dk1"/>
                </a:solidFill>
              </a:rPr>
              <a:t> always retrieves.</a:t>
            </a:r>
            <a:endParaRPr sz="12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lnSpc>
                <a:spcPct val="125000"/>
              </a:lnSpc>
              <a:spcBef>
                <a:spcPts val="1200"/>
              </a:spcBef>
              <a:spcAft>
                <a:spcPts val="0"/>
              </a:spcAft>
              <a:buNone/>
            </a:pPr>
            <a:r>
              <a:t/>
            </a:r>
            <a:endParaRPr sz="1100">
              <a:solidFill>
                <a:schemeClr val="dk1"/>
              </a:solidFill>
            </a:endParaRPr>
          </a:p>
          <a:p>
            <a:pPr indent="0" lvl="0" marL="0" rtl="0" algn="l">
              <a:spcBef>
                <a:spcPts val="200"/>
              </a:spcBef>
              <a:spcAft>
                <a:spcPts val="0"/>
              </a:spcAft>
              <a:buNone/>
            </a:pPr>
            <a:r>
              <a:t/>
            </a:r>
            <a:endParaRPr sz="1100">
              <a:solidFill>
                <a:schemeClr val="dk1"/>
              </a:solidFill>
            </a:endParaRPr>
          </a:p>
          <a:p>
            <a:pPr indent="0" lvl="0" marL="0" rtl="0" algn="l">
              <a:lnSpc>
                <a:spcPct val="125000"/>
              </a:lnSpc>
              <a:spcBef>
                <a:spcPts val="1400"/>
              </a:spcBef>
              <a:spcAft>
                <a:spcPts val="0"/>
              </a:spcAft>
              <a:buClr>
                <a:schemeClr val="dk1"/>
              </a:buClr>
              <a:buSzPts val="1100"/>
              <a:buFont typeface="Arial"/>
              <a:buNone/>
            </a:pPr>
            <a:r>
              <a:t/>
            </a:r>
            <a:endParaRPr sz="950">
              <a:solidFill>
                <a:schemeClr val="dk1"/>
              </a:solidFill>
            </a:endParaRPr>
          </a:p>
          <a:p>
            <a:pPr indent="0" lvl="0" marL="0" rtl="0" algn="l">
              <a:spcBef>
                <a:spcPts val="400"/>
              </a:spcBef>
              <a:spcAft>
                <a:spcPts val="1200"/>
              </a:spcAft>
              <a:buNone/>
            </a:pPr>
            <a:r>
              <a:t/>
            </a:r>
            <a:endParaRPr sz="11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3"/>
          <p:cNvSpPr txBox="1"/>
          <p:nvPr>
            <p:ph idx="1" type="body"/>
          </p:nvPr>
        </p:nvSpPr>
        <p:spPr>
          <a:xfrm>
            <a:off x="311700" y="139100"/>
            <a:ext cx="8520600" cy="4703400"/>
          </a:xfrm>
          <a:prstGeom prst="rect">
            <a:avLst/>
          </a:prstGeom>
        </p:spPr>
        <p:txBody>
          <a:bodyPr anchorCtr="0" anchor="t" bIns="91425" lIns="91425" spcFirstLastPara="1" rIns="91425" wrap="square" tIns="91425">
            <a:normAutofit/>
          </a:bodyPr>
          <a:lstStyle/>
          <a:p>
            <a:pPr indent="457200" lvl="0" marL="2743200" rtl="0" algn="l">
              <a:spcBef>
                <a:spcPts val="0"/>
              </a:spcBef>
              <a:spcAft>
                <a:spcPts val="0"/>
              </a:spcAft>
              <a:buNone/>
            </a:pPr>
            <a:r>
              <a:t/>
            </a:r>
            <a:endParaRPr sz="7200">
              <a:solidFill>
                <a:schemeClr val="dk1"/>
              </a:solidFill>
            </a:endParaRPr>
          </a:p>
          <a:p>
            <a:pPr indent="457200" lvl="0" marL="2743200" rtl="0" algn="l">
              <a:spcBef>
                <a:spcPts val="1200"/>
              </a:spcBef>
              <a:spcAft>
                <a:spcPts val="1200"/>
              </a:spcAft>
              <a:buNone/>
            </a:pPr>
            <a:r>
              <a:rPr lang="en" sz="7200">
                <a:solidFill>
                  <a:schemeClr val="dk1"/>
                </a:solidFill>
              </a:rPr>
              <a:t>Q &amp; A</a:t>
            </a:r>
            <a:endParaRPr sz="72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